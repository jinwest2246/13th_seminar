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8" r:id="rId19"/>
    <p:sldId id="272" r:id="rId20"/>
    <p:sldId id="274" r:id="rId21"/>
    <p:sldId id="275" r:id="rId22"/>
    <p:sldId id="276" r:id="rId23"/>
    <p:sldId id="277" r:id="rId24"/>
    <p:sldId id="279" r:id="rId25"/>
    <p:sldId id="280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3"/>
    <p:restoredTop sz="93627" autoAdjust="0"/>
  </p:normalViewPr>
  <p:slideViewPr>
    <p:cSldViewPr snapToGrid="0">
      <p:cViewPr>
        <p:scale>
          <a:sx n="66" d="100"/>
          <a:sy n="66" d="100"/>
        </p:scale>
        <p:origin x="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1DC662-CA0A-2CFC-C0F0-C719863CC6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B04E244-CD37-55BF-B475-66DCDAD7B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0C0A23-D9ED-833D-D35A-25BE3A3D6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BE2DE-6EDD-8640-B662-2E6EE353CAA9}" type="datetimeFigureOut">
              <a:rPr kumimoji="1" lang="ko-KR" altLang="en-US" smtClean="0"/>
              <a:t>2026-03-06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483DCB-9750-7F06-8EA2-217F2D11D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322589-846C-3CC5-4725-C3B0FB9E1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F994D-7B30-9B4D-A72B-925EBF66D6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32671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221C6E-4EFC-9090-B2D1-F49403FAD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D1A9B9-A443-C51A-FDAA-2FD2A6C16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60B627-2727-ED01-414D-6D19B07EE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BE2DE-6EDD-8640-B662-2E6EE353CAA9}" type="datetimeFigureOut">
              <a:rPr kumimoji="1" lang="ko-KR" altLang="en-US" smtClean="0"/>
              <a:t>2026-03-06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C34171-1922-B9A9-FAA6-C07418066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C4478B-449E-1D27-EB91-E07786CD7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F994D-7B30-9B4D-A72B-925EBF66D6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2201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C12726-8419-F7C3-3F21-FFA5E134A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62D902-CBC2-6A0A-96A2-D3F6F1AF7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E3EC2A-3E9D-AAC7-6D56-2642264FC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BE2DE-6EDD-8640-B662-2E6EE353CAA9}" type="datetimeFigureOut">
              <a:rPr kumimoji="1" lang="ko-KR" altLang="en-US" smtClean="0"/>
              <a:t>2026-03-06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0CBA43-BB3D-FE1E-4FB1-108830E50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4E2A98-7249-8CF8-F713-8121DCE0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F994D-7B30-9B4D-A72B-925EBF66D6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01035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7AC16F-4076-B1B7-70EE-45161A725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5BC116-BE38-F469-8ED1-9803924230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15CE95-205D-F6BD-DC9A-FCF74150D1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FF3143-9882-C70B-215C-A9A7E7A82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BE2DE-6EDD-8640-B662-2E6EE353CAA9}" type="datetimeFigureOut">
              <a:rPr kumimoji="1" lang="ko-KR" altLang="en-US" smtClean="0"/>
              <a:t>2026-03-06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F83FB4-76FE-9B06-288F-F604850E4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8E4C52-F76D-E6F3-6C45-EC228867F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F994D-7B30-9B4D-A72B-925EBF66D6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09696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8D3E31-0930-5F80-8BCA-2B82ED354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18AA27-E9B6-0CBF-602B-FA87D4A41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506D3C-F749-2410-C182-A77FED6CC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64E168-5A52-06BC-801C-B52492188B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D332E47-2E9C-1CD1-3E07-704233BA4A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A8A3CD2-C40E-271C-23DA-D0D5445F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BE2DE-6EDD-8640-B662-2E6EE353CAA9}" type="datetimeFigureOut">
              <a:rPr kumimoji="1" lang="ko-KR" altLang="en-US" smtClean="0"/>
              <a:t>2026-03-06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0EB5CAA-2AD3-F0C4-891A-68EE87018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68E3D0A-E57D-D18D-A7EC-32A7CF75A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F994D-7B30-9B4D-A72B-925EBF66D6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74960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13C88A-DF0C-8995-25F6-A961DAE68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1F8EBB1-68D1-E92D-1416-CA9C95874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BE2DE-6EDD-8640-B662-2E6EE353CAA9}" type="datetimeFigureOut">
              <a:rPr kumimoji="1" lang="ko-KR" altLang="en-US" smtClean="0"/>
              <a:t>2026-03-06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A77B8B-0716-202A-FDCB-B0635803D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A3FDCA2-66B8-A920-B6BB-287EC37EE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F994D-7B30-9B4D-A72B-925EBF66D6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22054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C6C7D48-37B9-A669-26E8-81B92B789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BE2DE-6EDD-8640-B662-2E6EE353CAA9}" type="datetimeFigureOut">
              <a:rPr kumimoji="1" lang="ko-KR" altLang="en-US" smtClean="0"/>
              <a:t>2026-03-06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570AEA1-F27A-9EDA-7E7A-C7CAF21FE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CA3FFA-3C62-BC14-A96C-9C49F27B1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F994D-7B30-9B4D-A72B-925EBF66D6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69298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7B3DB4-B384-DB30-67FE-972FFACAB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D697A6-5939-8141-531B-7E1361EC2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04AE9A-C839-1864-844C-9155E8045F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F851C4-38BB-087A-5850-12F89B06B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BE2DE-6EDD-8640-B662-2E6EE353CAA9}" type="datetimeFigureOut">
              <a:rPr kumimoji="1" lang="ko-KR" altLang="en-US" smtClean="0"/>
              <a:t>2026-03-06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9FE4B3-09D5-0FE3-98BD-A413E6DB6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899DC2-08B1-4444-DF0F-CAA08324A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F994D-7B30-9B4D-A72B-925EBF66D6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76358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BDFA41-FEE1-B929-96E1-9A0924789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FB28481-1B80-CA10-3B30-B651CADA24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D2A10A-3619-0EC2-0EA0-C00144D7AA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EE9C80-2F20-49D1-8856-05B786AED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BE2DE-6EDD-8640-B662-2E6EE353CAA9}" type="datetimeFigureOut">
              <a:rPr kumimoji="1" lang="ko-KR" altLang="en-US" smtClean="0"/>
              <a:t>2026-03-06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78E8D3-90B3-98C4-AB30-E17979075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73D0B06-06D2-3950-7D45-687E28888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F994D-7B30-9B4D-A72B-925EBF66D6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7913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15A4DD-D7FD-633A-8068-1BF55041B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430C94-B262-5AB6-3414-60A18F9401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E426EC-E7AD-9290-7EFD-A74D2C93C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BE2DE-6EDD-8640-B662-2E6EE353CAA9}" type="datetimeFigureOut">
              <a:rPr kumimoji="1" lang="ko-KR" altLang="en-US" smtClean="0"/>
              <a:t>2026-03-06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14869A-CFC3-9ED5-6190-10CC2C5EA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DBA09F-507C-7E76-1BBB-5F1A5BECF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F994D-7B30-9B4D-A72B-925EBF66D6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78033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2470537-CD2D-3ACA-AA13-2485CAE9C5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4657C74-D9EE-F655-C7E4-C0CDC3EC7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2D938A-0DCF-814D-8D19-60638EFF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BE2DE-6EDD-8640-B662-2E6EE353CAA9}" type="datetimeFigureOut">
              <a:rPr kumimoji="1" lang="ko-KR" altLang="en-US" smtClean="0"/>
              <a:t>2026-03-06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0BEFB5-73B8-A987-424C-325222486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AA1504-44DB-46FE-5716-876FA3ED1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F994D-7B30-9B4D-A72B-925EBF66D6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359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C7F2ABB-55FD-F73D-92B6-61E386D2F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540D1C-A3BB-CA13-2B73-EEF94BF9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078501-18EF-C83D-9D59-57C76E8931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3BE2DE-6EDD-8640-B662-2E6EE353CAA9}" type="datetimeFigureOut">
              <a:rPr kumimoji="1" lang="ko-KR" altLang="en-US" smtClean="0"/>
              <a:t>2026-03-06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E6E2E7-706B-6EF6-CA58-75A6780B59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9E1658-F0D5-F5B2-237C-1CC9A72D30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CF994D-7B30-9B4D-A72B-925EBF66D6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58239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-scm.com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-scm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git-scm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git-scm.co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git-scm.com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onkuk-kuggle/13th_Seminar" TargetMode="External"/><Relationship Id="rId2" Type="http://schemas.openxmlformats.org/officeDocument/2006/relationships/hyperlink" Target="https://github.com/konkuk-kuggle/11th_Seminar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onkuk-kuggle/11th_Seminar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C0EA51-91BE-3DA4-B1CD-0BB9FE0B8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20763"/>
            <a:ext cx="9144000" cy="2387600"/>
          </a:xfrm>
        </p:spPr>
        <p:txBody>
          <a:bodyPr/>
          <a:lstStyle/>
          <a:p>
            <a:r>
              <a:rPr kumimoji="1" lang="en-US" altLang="ko-KR" dirty="0"/>
              <a:t>Git</a:t>
            </a:r>
            <a:r>
              <a:rPr kumimoji="1" lang="ko-KR" altLang="en-US" dirty="0"/>
              <a:t>사용과 </a:t>
            </a:r>
            <a:r>
              <a:rPr kumimoji="1" lang="en-US" altLang="ko-KR" dirty="0" err="1"/>
              <a:t>Github</a:t>
            </a:r>
            <a:r>
              <a:rPr kumimoji="1" lang="en-US" altLang="ko-KR" dirty="0"/>
              <a:t> </a:t>
            </a:r>
            <a:r>
              <a:rPr kumimoji="1" lang="ko-KR" altLang="en-US" dirty="0"/>
              <a:t>사용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899F00C-35CE-9E9C-2CFD-B42C9F342E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5558"/>
            <a:ext cx="9144000" cy="1655762"/>
          </a:xfrm>
        </p:spPr>
        <p:txBody>
          <a:bodyPr/>
          <a:lstStyle/>
          <a:p>
            <a:r>
              <a:rPr kumimoji="1" lang="en-US" altLang="ko-KR" dirty="0"/>
              <a:t>KUGGLE 13</a:t>
            </a:r>
            <a:r>
              <a:rPr kumimoji="1" lang="ko-KR" altLang="en-US" dirty="0"/>
              <a:t>기 부회장 김재환</a:t>
            </a:r>
          </a:p>
        </p:txBody>
      </p:sp>
    </p:spTree>
    <p:extLst>
      <p:ext uri="{BB962C8B-B14F-4D97-AF65-F5344CB8AC3E}">
        <p14:creationId xmlns:p14="http://schemas.microsoft.com/office/powerpoint/2010/main" val="2836284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B7F5A4-3F1B-41B1-6C2E-BB0A33B4D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터미널과 기본 리눅스 명령어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6BB265-78DC-FDE1-9866-4A6DA4A0E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" altLang="ko-KR" sz="2000" b="1" i="0" dirty="0" err="1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pwd</a:t>
            </a:r>
            <a:r>
              <a:rPr lang="en" altLang="ko-KR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 : </a:t>
            </a:r>
            <a:r>
              <a:rPr lang="ko-KR" altLang="en-US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현재 경로 출력</a:t>
            </a:r>
            <a:endParaRPr lang="en-US" altLang="ko-KR" sz="2000" b="0" i="0" dirty="0">
              <a:effectLst/>
              <a:latin typeface="AppleSDGothicNeo" panose="02000300000000000000" pitchFamily="2" charset="-127"/>
              <a:ea typeface="AppleSDGothicNeo" panose="02000300000000000000" pitchFamily="2" charset="-127"/>
            </a:endParaRPr>
          </a:p>
          <a:p>
            <a:r>
              <a:rPr lang="en" altLang="ko-KR" sz="2000" b="1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ls</a:t>
            </a:r>
            <a:r>
              <a:rPr lang="en" altLang="ko-KR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 : </a:t>
            </a:r>
            <a:r>
              <a:rPr lang="ko-KR" altLang="en-US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현재 폴더의 목록 출력</a:t>
            </a:r>
            <a:endParaRPr lang="en-US" altLang="ko-KR" sz="2000" b="0" i="0" dirty="0">
              <a:effectLst/>
              <a:latin typeface="AppleSDGothicNeo" panose="02000300000000000000" pitchFamily="2" charset="-127"/>
              <a:ea typeface="AppleSDGothicNeo" panose="02000300000000000000" pitchFamily="2" charset="-127"/>
            </a:endParaRPr>
          </a:p>
          <a:p>
            <a:r>
              <a:rPr lang="en" altLang="ko-KR" sz="2000" b="1" i="0" dirty="0" err="1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mkdir</a:t>
            </a:r>
            <a:r>
              <a:rPr lang="en" altLang="ko-KR" sz="2000" b="1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 gitsyudy02</a:t>
            </a:r>
            <a:r>
              <a:rPr lang="en" altLang="ko-KR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 : gitsyudy02 </a:t>
            </a:r>
            <a:r>
              <a:rPr lang="ko-KR" altLang="en-US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폴더 만들기 </a:t>
            </a:r>
            <a:r>
              <a:rPr lang="en-US" altLang="ko-KR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(</a:t>
            </a:r>
            <a:r>
              <a:rPr lang="ko-KR" altLang="en-US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디렉터리</a:t>
            </a:r>
            <a:r>
              <a:rPr lang="en-US" altLang="ko-KR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)</a:t>
            </a:r>
          </a:p>
          <a:p>
            <a:r>
              <a:rPr lang="en" altLang="ko-KR" sz="2000" b="1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cd gitsyudy02</a:t>
            </a:r>
            <a:r>
              <a:rPr lang="en" altLang="ko-KR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 : gitsyudy02 </a:t>
            </a:r>
            <a:r>
              <a:rPr lang="ko-KR" altLang="en-US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위치</a:t>
            </a:r>
            <a:r>
              <a:rPr lang="en-US" altLang="ko-KR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/</a:t>
            </a:r>
            <a:r>
              <a:rPr lang="ko-KR" altLang="en-US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폴더로 이동</a:t>
            </a:r>
            <a:endParaRPr lang="en-US" altLang="ko-KR" sz="2000" b="0" i="0" dirty="0">
              <a:effectLst/>
              <a:latin typeface="AppleSDGothicNeo" panose="02000300000000000000" pitchFamily="2" charset="-127"/>
              <a:ea typeface="AppleSDGothicNeo" panose="02000300000000000000" pitchFamily="2" charset="-127"/>
            </a:endParaRPr>
          </a:p>
          <a:p>
            <a:r>
              <a:rPr kumimoji="1" lang="en-US" altLang="ko-KR" sz="2000" dirty="0">
                <a:latin typeface="AppleSDGothicNeo" panose="02000300000000000000" pitchFamily="2" charset="-127"/>
                <a:ea typeface="AppleSDGothicNeo" panose="02000300000000000000" pitchFamily="2" charset="-127"/>
              </a:rPr>
              <a:t>.</a:t>
            </a:r>
            <a:r>
              <a:rPr kumimoji="1" lang="ko-KR" altLang="en-US" sz="2000" dirty="0">
                <a:latin typeface="AppleSDGothicNeo" panose="02000300000000000000" pitchFamily="2" charset="-127"/>
                <a:ea typeface="AppleSDGothicNeo" panose="02000300000000000000" pitchFamily="2" charset="-127"/>
              </a:rPr>
              <a:t> </a:t>
            </a:r>
            <a:r>
              <a:rPr kumimoji="1" lang="en-US" altLang="ko-KR" sz="2000" dirty="0">
                <a:latin typeface="AppleSDGothicNeo" panose="02000300000000000000" pitchFamily="2" charset="-127"/>
                <a:ea typeface="AppleSDGothicNeo" panose="02000300000000000000" pitchFamily="2" charset="-127"/>
              </a:rPr>
              <a:t>-&gt;</a:t>
            </a:r>
            <a:r>
              <a:rPr kumimoji="1" lang="ko-KR" altLang="en-US" sz="2000" dirty="0">
                <a:latin typeface="AppleSDGothicNeo" panose="02000300000000000000" pitchFamily="2" charset="-127"/>
                <a:ea typeface="AppleSDGothicNeo" panose="02000300000000000000" pitchFamily="2" charset="-127"/>
              </a:rPr>
              <a:t> 현태 폴더</a:t>
            </a:r>
            <a:endParaRPr kumimoji="1" lang="en-US" altLang="ko-KR" sz="2000" dirty="0">
              <a:latin typeface="AppleSDGothicNeo" panose="02000300000000000000" pitchFamily="2" charset="-127"/>
              <a:ea typeface="AppleSDGothicNeo" panose="02000300000000000000" pitchFamily="2" charset="-127"/>
            </a:endParaRPr>
          </a:p>
          <a:p>
            <a:r>
              <a:rPr kumimoji="1" lang="en-US" altLang="ko-KR" sz="2000" dirty="0">
                <a:latin typeface="AppleSDGothicNeo" panose="02000300000000000000" pitchFamily="2" charset="-127"/>
                <a:ea typeface="AppleSDGothicNeo" panose="02000300000000000000" pitchFamily="2" charset="-127"/>
              </a:rPr>
              <a:t>..</a:t>
            </a:r>
            <a:r>
              <a:rPr kumimoji="1" lang="ko-KR" altLang="en-US" sz="2000" dirty="0">
                <a:latin typeface="AppleSDGothicNeo" panose="02000300000000000000" pitchFamily="2" charset="-127"/>
                <a:ea typeface="AppleSDGothicNeo" panose="02000300000000000000" pitchFamily="2" charset="-127"/>
              </a:rPr>
              <a:t> </a:t>
            </a:r>
            <a:r>
              <a:rPr kumimoji="1" lang="en-US" altLang="ko-KR" sz="2000" dirty="0">
                <a:latin typeface="AppleSDGothicNeo" panose="02000300000000000000" pitchFamily="2" charset="-127"/>
                <a:ea typeface="AppleSDGothicNeo" panose="02000300000000000000" pitchFamily="2" charset="-127"/>
              </a:rPr>
              <a:t>-&gt;</a:t>
            </a:r>
            <a:r>
              <a:rPr kumimoji="1" lang="ko-KR" altLang="en-US" sz="2000" dirty="0">
                <a:latin typeface="AppleSDGothicNeo" panose="02000300000000000000" pitchFamily="2" charset="-127"/>
                <a:ea typeface="AppleSDGothicNeo" panose="02000300000000000000" pitchFamily="2" charset="-127"/>
              </a:rPr>
              <a:t> 상위 폴더</a:t>
            </a:r>
            <a:endParaRPr kumimoji="1" lang="ko-KR" altLang="en-US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517696E-A78E-F20D-6725-430CE469A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442" y="4920069"/>
            <a:ext cx="1638300" cy="12319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CFC85A6-E941-F2A5-538D-B3B72DAE3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546" y="4900242"/>
            <a:ext cx="1638300" cy="12446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04C3E84-272C-70C2-D756-D66C3D773D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6780" y="4063054"/>
            <a:ext cx="3210009" cy="211390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9738143-C865-C696-C2C2-EA5AADFF01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4380" y="4976137"/>
            <a:ext cx="1422400" cy="14224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350DDE9-E0D0-AE2A-545A-621C6B599D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431" y="4932363"/>
            <a:ext cx="1422400" cy="1422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A0AA2F1-EC05-748C-38A0-36ADE2DDBD77}"/>
              </a:ext>
            </a:extLst>
          </p:cNvPr>
          <p:cNvSpPr txBox="1"/>
          <p:nvPr/>
        </p:nvSpPr>
        <p:spPr>
          <a:xfrm>
            <a:off x="1955800" y="6398537"/>
            <a:ext cx="299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윈도우</a:t>
            </a:r>
            <a:r>
              <a:rPr kumimoji="1" lang="en-US" altLang="ko-KR" dirty="0"/>
              <a:t>:</a:t>
            </a:r>
            <a:r>
              <a:rPr kumimoji="1" lang="ko-KR" altLang="en-US" dirty="0"/>
              <a:t> 터미널</a:t>
            </a:r>
            <a:r>
              <a:rPr kumimoji="1" lang="en-US" altLang="ko-KR" dirty="0"/>
              <a:t>/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powershell</a:t>
            </a:r>
            <a:endParaRPr kumimoji="1"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56FB91-3365-DB88-5B52-2B189B8F8A80}"/>
              </a:ext>
            </a:extLst>
          </p:cNvPr>
          <p:cNvSpPr txBox="1"/>
          <p:nvPr/>
        </p:nvSpPr>
        <p:spPr>
          <a:xfrm>
            <a:off x="7675580" y="6423937"/>
            <a:ext cx="2408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맥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terminal / </a:t>
            </a:r>
            <a:r>
              <a:rPr kumimoji="1" lang="en-US" altLang="ko-KR" dirty="0" err="1"/>
              <a:t>iTerm</a:t>
            </a:r>
            <a:endParaRPr kumimoji="1"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4C2D3E-CC63-3A3D-DFD8-3579B611559E}"/>
              </a:ext>
            </a:extLst>
          </p:cNvPr>
          <p:cNvSpPr txBox="1"/>
          <p:nvPr/>
        </p:nvSpPr>
        <p:spPr>
          <a:xfrm>
            <a:off x="436377" y="4559764"/>
            <a:ext cx="6034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(</a:t>
            </a:r>
            <a:r>
              <a:rPr kumimoji="1" lang="en-US" altLang="ko-KR" dirty="0" err="1"/>
              <a:t>cmd</a:t>
            </a:r>
            <a:r>
              <a:rPr kumimoji="1" lang="ko-KR" altLang="en-US" dirty="0"/>
              <a:t>는 리눅스 표준 명령어를 </a:t>
            </a:r>
            <a:r>
              <a:rPr kumimoji="1" lang="ko-KR" altLang="en-US" dirty="0" err="1"/>
              <a:t>안따르므로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안쓰겠습니다</a:t>
            </a:r>
            <a:r>
              <a:rPr kumimoji="1" lang="en-US" altLang="ko-KR" dirty="0"/>
              <a:t>)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5563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F2A44A-5077-9139-86B6-C99554150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GIT : VCS</a:t>
            </a:r>
            <a:r>
              <a:rPr kumimoji="1" lang="ko-KR" altLang="en-US" dirty="0"/>
              <a:t>의 일종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F198FA-519B-4692-F3CB-048C01E47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sz="2000" dirty="0"/>
              <a:t>VCS: version control system (</a:t>
            </a:r>
            <a:r>
              <a:rPr kumimoji="1" lang="ko-KR" altLang="en-US" sz="2000" dirty="0"/>
              <a:t>코드의 변화를 관리하고 추적하는 </a:t>
            </a:r>
            <a:r>
              <a:rPr kumimoji="1" lang="en-US" altLang="ko-KR" sz="2000" dirty="0"/>
              <a:t>SW)</a:t>
            </a:r>
          </a:p>
          <a:p>
            <a:r>
              <a:rPr kumimoji="1" lang="ko-KR" altLang="en-US" sz="2000" dirty="0"/>
              <a:t>코드를 변경</a:t>
            </a:r>
            <a:r>
              <a:rPr kumimoji="1" lang="en-US" altLang="ko-KR" sz="2000" dirty="0"/>
              <a:t>,</a:t>
            </a:r>
            <a:r>
              <a:rPr kumimoji="1" lang="ko-KR" altLang="en-US" sz="2000" dirty="0"/>
              <a:t> 수정</a:t>
            </a:r>
            <a:r>
              <a:rPr kumimoji="1" lang="en-US" altLang="ko-KR" sz="2000" dirty="0"/>
              <a:t>,</a:t>
            </a:r>
            <a:r>
              <a:rPr kumimoji="1" lang="ko-KR" altLang="en-US" sz="2000" dirty="0"/>
              <a:t> 테스트 </a:t>
            </a:r>
            <a:r>
              <a:rPr kumimoji="1" lang="ko-KR" altLang="en-US" sz="2000" dirty="0" err="1"/>
              <a:t>할때</a:t>
            </a:r>
            <a:r>
              <a:rPr kumimoji="1" lang="ko-KR" altLang="en-US" sz="2000" dirty="0"/>
              <a:t> 코드는 안정</a:t>
            </a:r>
            <a:r>
              <a:rPr kumimoji="1" lang="en-US" altLang="ko-KR" sz="2000" dirty="0"/>
              <a:t>/</a:t>
            </a:r>
            <a:r>
              <a:rPr kumimoji="1" lang="ko-KR" altLang="en-US" sz="2000" dirty="0"/>
              <a:t>불안정 상태를 반복</a:t>
            </a:r>
            <a:endParaRPr kumimoji="1" lang="en-US" altLang="ko-KR" sz="2000" dirty="0"/>
          </a:p>
          <a:p>
            <a:r>
              <a:rPr kumimoji="1" lang="ko-KR" altLang="en-US" sz="2000" dirty="0"/>
              <a:t>시험삼아 작성한 코드가 </a:t>
            </a:r>
            <a:r>
              <a:rPr kumimoji="1" lang="ko-KR" altLang="en-US" sz="2000" dirty="0" err="1"/>
              <a:t>잘못됐을때</a:t>
            </a:r>
            <a:r>
              <a:rPr kumimoji="1" lang="ko-KR" altLang="en-US" sz="2000" dirty="0"/>
              <a:t> 복귀지점이 있으면 더 안정적으로 개발 가능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2455A0C-7372-AFC9-3FB7-9AA3ACFDC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800" y="3277038"/>
            <a:ext cx="7518400" cy="358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596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C4C9B0-0533-45CA-9FF2-733360B55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깃 설치하기 </a:t>
            </a:r>
            <a:r>
              <a:rPr kumimoji="1" lang="en-US" altLang="ko-KR" dirty="0"/>
              <a:t>(</a:t>
            </a:r>
            <a:r>
              <a:rPr kumimoji="1" lang="ko-KR" altLang="en-US" dirty="0"/>
              <a:t>윈도우</a:t>
            </a:r>
            <a:r>
              <a:rPr kumimoji="1" lang="en-US" altLang="ko-KR" dirty="0"/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1F7568-E089-8709-3F59-E93A146B6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ko-KR" dirty="0">
                <a:hlinkClick r:id="rId2"/>
              </a:rPr>
              <a:t>https://git-scm.com/</a:t>
            </a:r>
            <a:endParaRPr kumimoji="1" lang="en" altLang="ko-KR" dirty="0"/>
          </a:p>
          <a:p>
            <a:endParaRPr kumimoji="1" lang="ko-KR" altLang="en-US" dirty="0"/>
          </a:p>
        </p:txBody>
      </p: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41653E-694D-F4D4-D42F-445E6F065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9339" y="1825625"/>
            <a:ext cx="5912154" cy="2597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087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C4C9B0-0533-45CA-9FF2-733360B55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깃 설치하기 </a:t>
            </a:r>
            <a:r>
              <a:rPr kumimoji="1" lang="en-US" altLang="ko-KR" dirty="0"/>
              <a:t>(</a:t>
            </a:r>
            <a:r>
              <a:rPr kumimoji="1" lang="ko-KR" altLang="en-US" dirty="0"/>
              <a:t>윈도우</a:t>
            </a:r>
            <a:r>
              <a:rPr kumimoji="1" lang="en-US" altLang="ko-KR" dirty="0"/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1F7568-E089-8709-3F59-E93A146B6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ko-KR" dirty="0">
                <a:hlinkClick r:id="rId2"/>
              </a:rPr>
              <a:t>https://git-scm.com/</a:t>
            </a:r>
            <a:endParaRPr kumimoji="1" lang="en" altLang="ko-KR" dirty="0"/>
          </a:p>
          <a:p>
            <a:endParaRPr kumimoji="1" lang="ko-KR" altLang="en-US" dirty="0"/>
          </a:p>
        </p:txBody>
      </p:sp>
      <p:pic>
        <p:nvPicPr>
          <p:cNvPr id="6" name="그림 5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B4D14B-9413-2C6E-CD5D-EE6D71AEF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9494" y="1817268"/>
            <a:ext cx="6121715" cy="3943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322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C4C9B0-0533-45CA-9FF2-733360B55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깃 설치하기 </a:t>
            </a:r>
            <a:r>
              <a:rPr kumimoji="1" lang="en-US" altLang="ko-KR" dirty="0"/>
              <a:t>(</a:t>
            </a:r>
            <a:r>
              <a:rPr kumimoji="1" lang="ko-KR" altLang="en-US" dirty="0"/>
              <a:t>윈도우</a:t>
            </a:r>
            <a:r>
              <a:rPr kumimoji="1" lang="en-US" altLang="ko-KR" dirty="0"/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1F7568-E089-8709-3F59-E93A146B6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ko-KR" dirty="0">
                <a:hlinkClick r:id="rId2"/>
              </a:rPr>
              <a:t>https://git-scm.com/</a:t>
            </a:r>
            <a:endParaRPr kumimoji="1" lang="en" altLang="ko-KR" dirty="0"/>
          </a:p>
          <a:p>
            <a:endParaRPr kumimoji="1" lang="ko-KR" altLang="en-US" dirty="0"/>
          </a:p>
        </p:txBody>
      </p: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DF4701-5772-6511-B629-ADD542CBC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9803" y="2975949"/>
            <a:ext cx="6652393" cy="243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395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C4C9B0-0533-45CA-9FF2-733360B55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깃 설치하기 </a:t>
            </a:r>
            <a:r>
              <a:rPr kumimoji="1" lang="en-US" altLang="ko-KR" dirty="0"/>
              <a:t>(</a:t>
            </a:r>
            <a:r>
              <a:rPr kumimoji="1" lang="ko-KR" altLang="en-US" dirty="0"/>
              <a:t>윈도우</a:t>
            </a:r>
            <a:r>
              <a:rPr kumimoji="1" lang="en-US" altLang="ko-KR" dirty="0"/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1F7568-E089-8709-3F59-E93A146B6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ko-KR" dirty="0">
                <a:hlinkClick r:id="rId2"/>
              </a:rPr>
              <a:t>https://git-scm.com/</a:t>
            </a:r>
            <a:endParaRPr kumimoji="1" lang="en" altLang="ko-KR" dirty="0"/>
          </a:p>
          <a:p>
            <a:endParaRPr kumimoji="1" lang="ko-KR" altLang="en-US" dirty="0"/>
          </a:p>
        </p:txBody>
      </p:sp>
      <p:pic>
        <p:nvPicPr>
          <p:cNvPr id="6" name="그림 5" descr="텍스트, 스크린샷, 폰트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A3CCA7-337D-A734-412B-3A0995949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990" y="2505604"/>
            <a:ext cx="6236020" cy="410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178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C4C9B0-0533-45CA-9FF2-733360B55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깃 설치하기 </a:t>
            </a:r>
            <a:r>
              <a:rPr kumimoji="1" lang="en-US" altLang="ko-KR" dirty="0"/>
              <a:t>(</a:t>
            </a:r>
            <a:r>
              <a:rPr kumimoji="1" lang="ko-KR" altLang="en-US" dirty="0"/>
              <a:t>윈도우</a:t>
            </a:r>
            <a:r>
              <a:rPr kumimoji="1" lang="en-US" altLang="ko-KR" dirty="0"/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1F7568-E089-8709-3F59-E93A146B6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ko-KR" dirty="0">
                <a:hlinkClick r:id="rId2"/>
              </a:rPr>
              <a:t>https://git-scm.com/</a:t>
            </a:r>
            <a:endParaRPr kumimoji="1" lang="en" altLang="ko-KR" dirty="0"/>
          </a:p>
          <a:p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F083A94-1DFE-8A68-9E32-F9FB21C9E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275" y="2389830"/>
            <a:ext cx="5251450" cy="4188468"/>
          </a:xfrm>
          <a:prstGeom prst="rect">
            <a:avLst/>
          </a:prstGeom>
        </p:spPr>
      </p:pic>
      <p:sp>
        <p:nvSpPr>
          <p:cNvPr id="5" name="오른쪽 화살표[R] 4">
            <a:extLst>
              <a:ext uri="{FF2B5EF4-FFF2-40B4-BE49-F238E27FC236}">
                <a16:creationId xmlns:a16="http://schemas.microsoft.com/office/drawing/2014/main" id="{664E2D9C-2F81-25AC-E51A-0F7829D59C8F}"/>
              </a:ext>
            </a:extLst>
          </p:cNvPr>
          <p:cNvSpPr/>
          <p:nvPr/>
        </p:nvSpPr>
        <p:spPr>
          <a:xfrm>
            <a:off x="2349500" y="4369764"/>
            <a:ext cx="1701800" cy="228600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곱하기 5">
            <a:extLst>
              <a:ext uri="{FF2B5EF4-FFF2-40B4-BE49-F238E27FC236}">
                <a16:creationId xmlns:a16="http://schemas.microsoft.com/office/drawing/2014/main" id="{5D918031-61A8-C9AE-ADCB-CAED8C55AC75}"/>
              </a:ext>
            </a:extLst>
          </p:cNvPr>
          <p:cNvSpPr/>
          <p:nvPr/>
        </p:nvSpPr>
        <p:spPr>
          <a:xfrm>
            <a:off x="3848100" y="3396929"/>
            <a:ext cx="406400" cy="438793"/>
          </a:xfrm>
          <a:prstGeom prst="mathMultiply">
            <a:avLst>
              <a:gd name="adj1" fmla="val 11451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27911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C4C9B0-0533-45CA-9FF2-733360B55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깃 설치하기 </a:t>
            </a:r>
            <a:r>
              <a:rPr kumimoji="1" lang="en-US" altLang="ko-KR" dirty="0"/>
              <a:t>(MAC)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1F7568-E089-8709-3F59-E93A146B6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rgbClr val="4E443C"/>
                </a:solidFill>
                <a:latin typeface="Adelle" panose="02000503000000020004" pitchFamily="2" charset="-78"/>
                <a:cs typeface="Adelle" panose="02000503000000020004" pitchFamily="2" charset="-78"/>
              </a:rPr>
              <a:t>Xcode</a:t>
            </a:r>
            <a:r>
              <a:rPr lang="en-US" altLang="ko-KR" dirty="0">
                <a:solidFill>
                  <a:srgbClr val="4E443C"/>
                </a:solidFill>
                <a:latin typeface="Adelle" panose="02000503000000020004" pitchFamily="2" charset="-78"/>
                <a:cs typeface="Adelle" panose="02000503000000020004" pitchFamily="2" charset="-78"/>
              </a:rPr>
              <a:t> </a:t>
            </a:r>
            <a:r>
              <a:rPr lang="ko-KR" altLang="en-US" dirty="0" err="1">
                <a:solidFill>
                  <a:srgbClr val="4E443C"/>
                </a:solidFill>
                <a:latin typeface="Adelle" panose="02000503000000020004" pitchFamily="2" charset="-78"/>
                <a:cs typeface="Adelle" panose="02000503000000020004" pitchFamily="2" charset="-78"/>
              </a:rPr>
              <a:t>설치돼있는</a:t>
            </a:r>
            <a:r>
              <a:rPr lang="ko-KR" altLang="en-US" dirty="0">
                <a:solidFill>
                  <a:srgbClr val="4E443C"/>
                </a:solidFill>
                <a:latin typeface="Adelle" panose="02000503000000020004" pitchFamily="2" charset="-78"/>
                <a:cs typeface="Adelle" panose="02000503000000020004" pitchFamily="2" charset="-78"/>
              </a:rPr>
              <a:t> 경우 설치 필요</a:t>
            </a:r>
            <a:r>
              <a:rPr lang="en-US" altLang="ko-KR" dirty="0">
                <a:solidFill>
                  <a:srgbClr val="4E443C"/>
                </a:solidFill>
                <a:latin typeface="Adelle" panose="02000503000000020004" pitchFamily="2" charset="-78"/>
                <a:cs typeface="Adelle" panose="02000503000000020004" pitchFamily="2" charset="-78"/>
              </a:rPr>
              <a:t>X</a:t>
            </a:r>
            <a:endParaRPr lang="en" altLang="ko-KR" i="0" dirty="0">
              <a:solidFill>
                <a:srgbClr val="4E443C"/>
              </a:solidFill>
              <a:effectLst/>
              <a:latin typeface="Adelle" panose="02000503000000020004" pitchFamily="2" charset="-78"/>
              <a:cs typeface="Adelle" panose="02000503000000020004" pitchFamily="2" charset="-78"/>
            </a:endParaRPr>
          </a:p>
          <a:p>
            <a:endParaRPr lang="en" altLang="ko-KR" b="1" dirty="0">
              <a:solidFill>
                <a:srgbClr val="4E443C"/>
              </a:solidFill>
              <a:latin typeface="Adelle" panose="02000503000000020004" pitchFamily="2" charset="-78"/>
              <a:cs typeface="Adelle" panose="02000503000000020004" pitchFamily="2" charset="-78"/>
            </a:endParaRPr>
          </a:p>
          <a:p>
            <a:endParaRPr lang="en" altLang="ko-KR" b="1" i="0" dirty="0">
              <a:solidFill>
                <a:srgbClr val="4E443C"/>
              </a:solidFill>
              <a:effectLst/>
              <a:latin typeface="Adelle" panose="02000503000000020004" pitchFamily="2" charset="-78"/>
              <a:cs typeface="Adelle" panose="02000503000000020004" pitchFamily="2" charset="-78"/>
            </a:endParaRPr>
          </a:p>
          <a:p>
            <a:r>
              <a:rPr lang="en" altLang="ko-KR" b="1" i="0" dirty="0">
                <a:solidFill>
                  <a:srgbClr val="4E443C"/>
                </a:solidFill>
                <a:effectLst/>
                <a:latin typeface="Adelle" panose="02000503000000020004" pitchFamily="2" charset="-78"/>
                <a:cs typeface="Adelle" panose="02000503000000020004" pitchFamily="2" charset="-78"/>
              </a:rPr>
              <a:t>Homebrew</a:t>
            </a:r>
            <a:r>
              <a:rPr lang="ko-KR" altLang="en-US" b="1" i="0" dirty="0">
                <a:solidFill>
                  <a:srgbClr val="4E443C"/>
                </a:solidFill>
                <a:effectLst/>
                <a:latin typeface="Adelle" panose="02000503000000020004" pitchFamily="2" charset="-78"/>
                <a:cs typeface="Adelle" panose="02000503000000020004" pitchFamily="2" charset="-78"/>
              </a:rPr>
              <a:t> </a:t>
            </a:r>
            <a:r>
              <a:rPr lang="en-US" altLang="ko-KR" b="1" i="0" dirty="0">
                <a:solidFill>
                  <a:srgbClr val="4E443C"/>
                </a:solidFill>
                <a:effectLst/>
                <a:latin typeface="Adelle" panose="02000503000000020004" pitchFamily="2" charset="-78"/>
                <a:cs typeface="Adelle" panose="02000503000000020004" pitchFamily="2" charset="-78"/>
              </a:rPr>
              <a:t>: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macOS 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및 </a:t>
            </a:r>
            <a:r>
              <a:rPr lang="en" altLang="ko-KR" dirty="0">
                <a:solidFill>
                  <a:srgbClr val="0E0E0E"/>
                </a:solidFill>
                <a:effectLst/>
                <a:latin typeface=".AppleSystemUIFont"/>
              </a:rPr>
              <a:t>Linux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에서 패키지 관리를 쉽게 할 수 있도록 도와주는 오픈 소스 패키지 관리</a:t>
            </a:r>
            <a:endParaRPr lang="en-US" altLang="ko-KR" dirty="0">
              <a:solidFill>
                <a:srgbClr val="0E0E0E"/>
              </a:solidFill>
              <a:effectLst/>
              <a:latin typeface=".AppleSystemUIFont"/>
            </a:endParaRPr>
          </a:p>
          <a:p>
            <a:endParaRPr lang="en-US" altLang="ko-KR" b="0" i="0" dirty="0">
              <a:solidFill>
                <a:srgbClr val="0E0E0E"/>
              </a:solidFill>
              <a:latin typeface=".AppleSystemUIFont"/>
              <a:cs typeface="Adelle" panose="02000503000000020004" pitchFamily="2" charset="-78"/>
            </a:endParaRPr>
          </a:p>
          <a:p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  <a:cs typeface="Adelle" panose="02000503000000020004" pitchFamily="2" charset="-78"/>
              </a:rPr>
              <a:t>명령어 작성</a:t>
            </a:r>
            <a:br>
              <a:rPr lang="en" altLang="ko-KR" b="0" i="0" dirty="0">
                <a:solidFill>
                  <a:srgbClr val="4E443C"/>
                </a:solidFill>
                <a:effectLst/>
                <a:latin typeface="Adelle" panose="02000503000000020004" pitchFamily="2" charset="-78"/>
                <a:cs typeface="Adelle" panose="02000503000000020004" pitchFamily="2" charset="-78"/>
              </a:rPr>
            </a:br>
            <a:r>
              <a:rPr lang="en" altLang="ko-KR" b="0" i="0" dirty="0">
                <a:solidFill>
                  <a:srgbClr val="4E443C"/>
                </a:solidFill>
                <a:effectLst/>
                <a:latin typeface="Adelle" panose="02000503000000020004" pitchFamily="2" charset="-78"/>
                <a:cs typeface="Adelle" panose="02000503000000020004" pitchFamily="2" charset="-78"/>
              </a:rPr>
              <a:t>$ brew install git</a:t>
            </a:r>
          </a:p>
          <a:p>
            <a:pPr marL="0" indent="0">
              <a:buNone/>
            </a:pPr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400E674-5043-D38B-291D-9A7974B5C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50" y="4525963"/>
            <a:ext cx="3721100" cy="165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895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56A924-1983-1A19-C7F0-87D81E888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사용자 환경설정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15C83F-F827-AD77-35D3-2B2880325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ko-KR" altLang="en-US" sz="2000" dirty="0"/>
              <a:t>사용자 정보를 환경변수에 등록 해줘야 </a:t>
            </a:r>
            <a:r>
              <a:rPr kumimoji="1" lang="en-US" altLang="ko-KR" sz="2000" dirty="0"/>
              <a:t>git </a:t>
            </a:r>
            <a:r>
              <a:rPr kumimoji="1" lang="ko-KR" altLang="en-US" sz="2000" dirty="0"/>
              <a:t>사용 시작이 가능하다</a:t>
            </a:r>
            <a:r>
              <a:rPr kumimoji="1" lang="en-US" altLang="ko-KR" sz="2000" dirty="0"/>
              <a:t>.</a:t>
            </a:r>
          </a:p>
          <a:p>
            <a:r>
              <a:rPr kumimoji="1" lang="ko-KR" altLang="en-US" sz="2000" dirty="0" err="1"/>
              <a:t>협업할때</a:t>
            </a:r>
            <a:r>
              <a:rPr kumimoji="1" lang="ko-KR" altLang="en-US" sz="2000" dirty="0"/>
              <a:t> </a:t>
            </a:r>
            <a:r>
              <a:rPr kumimoji="1" lang="en-US" altLang="ko-KR" sz="2000" b="1" dirty="0"/>
              <a:t>＂</a:t>
            </a:r>
            <a:r>
              <a:rPr kumimoji="1" lang="ko-KR" altLang="en-US" sz="2000" b="1" dirty="0"/>
              <a:t>이 코드 누가 작성</a:t>
            </a:r>
            <a:r>
              <a:rPr kumimoji="1" lang="en-US" altLang="ko-KR" sz="2000" b="1" dirty="0"/>
              <a:t>/</a:t>
            </a:r>
            <a:r>
              <a:rPr kumimoji="1" lang="ko-KR" altLang="en-US" sz="2000" b="1" dirty="0"/>
              <a:t>수정 했음</a:t>
            </a:r>
            <a:r>
              <a:rPr kumimoji="1" lang="en-US" altLang="ko-KR" sz="2000" b="1" dirty="0"/>
              <a:t>?”</a:t>
            </a:r>
            <a:r>
              <a:rPr kumimoji="1" lang="ko-KR" altLang="en-US" sz="2000" dirty="0"/>
              <a:t>이라고 </a:t>
            </a:r>
            <a:r>
              <a:rPr kumimoji="1" lang="ko-KR" altLang="en-US" sz="2000" strike="sngStrike" dirty="0">
                <a:solidFill>
                  <a:srgbClr val="FF0000"/>
                </a:solidFill>
              </a:rPr>
              <a:t>따지기</a:t>
            </a:r>
            <a:r>
              <a:rPr kumimoji="1" lang="ko-KR" altLang="en-US" sz="2000" dirty="0"/>
              <a:t> 문의하기 위해서 이용한다</a:t>
            </a:r>
            <a:r>
              <a:rPr kumimoji="1" lang="en-US" altLang="ko-KR" sz="2000" dirty="0"/>
              <a:t>.</a:t>
            </a:r>
          </a:p>
          <a:p>
            <a:endParaRPr kumimoji="1" lang="en-US" altLang="ko-KR" sz="2000" dirty="0"/>
          </a:p>
          <a:p>
            <a:r>
              <a:rPr kumimoji="1" lang="ko-KR" altLang="en-US" sz="2000" dirty="0"/>
              <a:t>파일 단위가 아니라 그 파일에 코드 </a:t>
            </a:r>
            <a:r>
              <a:rPr kumimoji="1" lang="ko-KR" altLang="en-US" sz="2000" dirty="0" err="1"/>
              <a:t>한줄한줄</a:t>
            </a:r>
            <a:r>
              <a:rPr kumimoji="1" lang="ko-KR" altLang="en-US" sz="2000" dirty="0"/>
              <a:t> 누가 </a:t>
            </a:r>
            <a:r>
              <a:rPr kumimoji="1" lang="ko-KR" altLang="en-US" sz="2000" dirty="0" err="1"/>
              <a:t>어느시점에</a:t>
            </a:r>
            <a:r>
              <a:rPr kumimoji="1" lang="ko-KR" altLang="en-US" sz="2000" dirty="0"/>
              <a:t> 수정했고 </a:t>
            </a:r>
            <a:r>
              <a:rPr kumimoji="1" lang="ko-KR" altLang="en-US" sz="2000" dirty="0" err="1"/>
              <a:t>어떤줄을</a:t>
            </a:r>
            <a:r>
              <a:rPr kumimoji="1" lang="ko-KR" altLang="en-US" sz="2000" dirty="0"/>
              <a:t> 어떻게 다르게 수정했고 등등을 전부 조회 가능하다</a:t>
            </a:r>
            <a:r>
              <a:rPr kumimoji="1" lang="en-US" altLang="ko-KR" sz="2000" dirty="0"/>
              <a:t>.</a:t>
            </a:r>
          </a:p>
          <a:p>
            <a:endParaRPr kumimoji="1" lang="en-US" altLang="ko-KR" sz="2000" dirty="0"/>
          </a:p>
          <a:p>
            <a:r>
              <a:rPr kumimoji="1" lang="ko-KR" altLang="en-US" sz="2000" dirty="0"/>
              <a:t>명령어 입력</a:t>
            </a:r>
            <a:endParaRPr kumimoji="1" lang="en-US" altLang="ko-KR" sz="2000" dirty="0"/>
          </a:p>
          <a:p>
            <a:pPr marL="0" indent="0">
              <a:buNone/>
            </a:pPr>
            <a:r>
              <a:rPr kumimoji="1" lang="en-US" altLang="ko-KR" sz="2000" dirty="0"/>
              <a:t>git config —global </a:t>
            </a:r>
            <a:r>
              <a:rPr kumimoji="1" lang="en-US" altLang="ko-KR" sz="2000" dirty="0" err="1"/>
              <a:t>user.name</a:t>
            </a:r>
            <a:r>
              <a:rPr kumimoji="1" lang="en-US" altLang="ko-KR" sz="2000" dirty="0"/>
              <a:t> "</a:t>
            </a:r>
            <a:r>
              <a:rPr kumimoji="1" lang="ko-KR" altLang="en-US" sz="2000" dirty="0"/>
              <a:t>사용자이름</a:t>
            </a:r>
            <a:r>
              <a:rPr kumimoji="1" lang="en-US" altLang="ko-KR" sz="2000" dirty="0"/>
              <a:t>"</a:t>
            </a:r>
          </a:p>
          <a:p>
            <a:pPr marL="0" indent="0">
              <a:buNone/>
            </a:pPr>
            <a:r>
              <a:rPr kumimoji="1" lang="en-US" altLang="ko-KR" sz="2000" dirty="0"/>
              <a:t>git config —global </a:t>
            </a:r>
            <a:r>
              <a:rPr kumimoji="1" lang="en-US" altLang="ko-KR" sz="2000" dirty="0" err="1"/>
              <a:t>user.email</a:t>
            </a:r>
            <a:r>
              <a:rPr kumimoji="1" lang="en-US" altLang="ko-KR" sz="2000" dirty="0"/>
              <a:t> "</a:t>
            </a:r>
            <a:r>
              <a:rPr kumimoji="1" lang="ko-KR" altLang="en-US" sz="2000" dirty="0" err="1"/>
              <a:t>이메일주소</a:t>
            </a:r>
            <a:r>
              <a:rPr kumimoji="1" lang="en-US" altLang="ko-KR" sz="2000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991484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158B59-9360-BB06-3971-224E0EA8D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Git</a:t>
            </a:r>
            <a:r>
              <a:rPr kumimoji="1" lang="ko-KR" altLang="en-US" dirty="0"/>
              <a:t> 동작 원리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7BEB4E0-B8DC-4617-D87F-241A90F35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68" y="2165350"/>
            <a:ext cx="10929464" cy="37909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19F852-D2A5-58C9-8721-2FFF36C0DB38}"/>
              </a:ext>
            </a:extLst>
          </p:cNvPr>
          <p:cNvSpPr txBox="1"/>
          <p:nvPr/>
        </p:nvSpPr>
        <p:spPr>
          <a:xfrm>
            <a:off x="1130300" y="4178300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git </a:t>
            </a:r>
            <a:r>
              <a:rPr kumimoji="1" lang="en-US" altLang="ko-KR" dirty="0" err="1"/>
              <a:t>init</a:t>
            </a:r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172DF6-3EBB-7397-A875-173CED395C94}"/>
              </a:ext>
            </a:extLst>
          </p:cNvPr>
          <p:cNvSpPr txBox="1"/>
          <p:nvPr/>
        </p:nvSpPr>
        <p:spPr>
          <a:xfrm>
            <a:off x="1614872" y="5608598"/>
            <a:ext cx="1946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git add </a:t>
            </a:r>
            <a:r>
              <a:rPr kumimoji="1" lang="ko-KR" altLang="en-US" dirty="0"/>
              <a:t>대상파일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2DE27D-8D5A-C4FC-5366-8E7A5A709C0F}"/>
              </a:ext>
            </a:extLst>
          </p:cNvPr>
          <p:cNvSpPr txBox="1"/>
          <p:nvPr/>
        </p:nvSpPr>
        <p:spPr>
          <a:xfrm>
            <a:off x="4335412" y="5239266"/>
            <a:ext cx="2598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git commit –m “</a:t>
            </a:r>
            <a:r>
              <a:rPr kumimoji="1" lang="ko-KR" altLang="en-US" dirty="0"/>
              <a:t>메모</a:t>
            </a:r>
            <a:r>
              <a:rPr kumimoji="1" lang="en-US" altLang="ko-KR" dirty="0"/>
              <a:t>＂</a:t>
            </a:r>
            <a:endParaRPr kumimoji="1"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2A8973-B7E1-D527-43A3-AAB3C7606CFD}"/>
              </a:ext>
            </a:extLst>
          </p:cNvPr>
          <p:cNvSpPr txBox="1"/>
          <p:nvPr/>
        </p:nvSpPr>
        <p:spPr>
          <a:xfrm>
            <a:off x="4305300" y="3059668"/>
            <a:ext cx="2797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git checkout </a:t>
            </a:r>
            <a:r>
              <a:rPr kumimoji="1" lang="ko-KR" altLang="en-US" dirty="0" err="1"/>
              <a:t>브랜치이름</a:t>
            </a:r>
            <a:endParaRPr kumimoji="1"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99C711-6B11-0304-1A18-E5F3085D78FC}"/>
              </a:ext>
            </a:extLst>
          </p:cNvPr>
          <p:cNvSpPr txBox="1"/>
          <p:nvPr/>
        </p:nvSpPr>
        <p:spPr>
          <a:xfrm>
            <a:off x="6934200" y="4330184"/>
            <a:ext cx="1210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git merge</a:t>
            </a:r>
            <a:endParaRPr kumimoji="1"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C08FE4-66B2-EF0C-9EF8-17A6F316C625}"/>
              </a:ext>
            </a:extLst>
          </p:cNvPr>
          <p:cNvSpPr txBox="1"/>
          <p:nvPr/>
        </p:nvSpPr>
        <p:spPr>
          <a:xfrm>
            <a:off x="6293592" y="1634609"/>
            <a:ext cx="3829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git push </a:t>
            </a:r>
            <a:r>
              <a:rPr kumimoji="1" lang="ko-KR" altLang="en-US" dirty="0" err="1"/>
              <a:t>레포별칭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원격브랜치이름</a:t>
            </a:r>
            <a:endParaRPr kumimoji="1" lang="ko-KR" altLang="en-US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6A54FB18-3425-FB5E-52C8-2211455C63BF}"/>
              </a:ext>
            </a:extLst>
          </p:cNvPr>
          <p:cNvCxnSpPr/>
          <p:nvPr/>
        </p:nvCxnSpPr>
        <p:spPr>
          <a:xfrm>
            <a:off x="8521700" y="2003941"/>
            <a:ext cx="0" cy="2554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AE987C1-4A45-2F90-C3DE-C0FC6F1990F6}"/>
              </a:ext>
            </a:extLst>
          </p:cNvPr>
          <p:cNvSpPr txBox="1"/>
          <p:nvPr/>
        </p:nvSpPr>
        <p:spPr>
          <a:xfrm>
            <a:off x="8822693" y="5793264"/>
            <a:ext cx="2494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 err="1"/>
              <a:t>github</a:t>
            </a:r>
            <a:r>
              <a:rPr kumimoji="1" lang="en-US" altLang="ko-KR" dirty="0"/>
              <a:t> </a:t>
            </a:r>
            <a:r>
              <a:rPr kumimoji="1" lang="ko-KR" altLang="en-US" dirty="0" err="1"/>
              <a:t>레포에</a:t>
            </a:r>
            <a:r>
              <a:rPr kumimoji="1" lang="ko-KR" altLang="en-US" dirty="0"/>
              <a:t> 올라감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6690CC-54EC-F871-D936-FAD0E5857F27}"/>
              </a:ext>
            </a:extLst>
          </p:cNvPr>
          <p:cNvSpPr txBox="1"/>
          <p:nvPr/>
        </p:nvSpPr>
        <p:spPr>
          <a:xfrm>
            <a:off x="4496239" y="497444"/>
            <a:ext cx="4833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원격저장소 </a:t>
            </a:r>
            <a:r>
              <a:rPr kumimoji="1" lang="en-US" altLang="ko-KR" dirty="0"/>
              <a:t>=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github</a:t>
            </a:r>
            <a:r>
              <a:rPr kumimoji="1" lang="en-US" altLang="ko-KR" dirty="0"/>
              <a:t> </a:t>
            </a:r>
            <a:r>
              <a:rPr kumimoji="1" lang="ko-KR" altLang="en-US" dirty="0" err="1"/>
              <a:t>레포지토리</a:t>
            </a:r>
            <a:r>
              <a:rPr kumimoji="1" lang="en-US" altLang="ko-KR" dirty="0"/>
              <a:t>(repository)</a:t>
            </a:r>
            <a:endParaRPr kumimoji="1"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31B113C-3008-0DA0-75A3-22E05073D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4200" y="4702031"/>
            <a:ext cx="963227" cy="90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447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DFF759-F04E-58F5-C021-B23C8D5E0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Git </a:t>
            </a:r>
            <a:r>
              <a:rPr kumimoji="1" lang="ko-KR" altLang="en-US" dirty="0"/>
              <a:t>저장공간 분류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189FD7-21B5-D116-5DC5-AC738B952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latinLnBrk="1"/>
            <a:r>
              <a:rPr lang="ko-KR" altLang="en-US" sz="1800" b="1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워킹 디렉터리</a:t>
            </a:r>
            <a:r>
              <a:rPr lang="ko-KR" altLang="en-US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 </a:t>
            </a:r>
            <a:r>
              <a:rPr lang="en-US" altLang="ko-KR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: </a:t>
            </a:r>
            <a:r>
              <a:rPr lang="ko-KR" altLang="en-US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작업을 하는 공간 </a:t>
            </a:r>
            <a:r>
              <a:rPr lang="en-US" altLang="ko-KR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- </a:t>
            </a:r>
            <a:r>
              <a:rPr lang="ko-KR" altLang="en-US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그냥 코딩하면 여기에 저장됩니다</a:t>
            </a:r>
            <a:r>
              <a:rPr lang="en-US" altLang="ko-KR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!</a:t>
            </a:r>
          </a:p>
          <a:p>
            <a:pPr algn="l" latinLnBrk="1"/>
            <a:r>
              <a:rPr lang="ko-KR" altLang="en-US" sz="1800" b="1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스테이지</a:t>
            </a:r>
            <a:r>
              <a:rPr lang="ko-KR" altLang="en-US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 </a:t>
            </a:r>
            <a:r>
              <a:rPr lang="en-US" altLang="ko-KR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: </a:t>
            </a:r>
            <a:r>
              <a:rPr lang="ko-KR" altLang="en-US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임시로 저장하는 공간</a:t>
            </a:r>
            <a:r>
              <a:rPr lang="en-US" altLang="ko-KR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(</a:t>
            </a:r>
            <a:r>
              <a:rPr lang="en" altLang="ko-KR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add)</a:t>
            </a:r>
          </a:p>
          <a:p>
            <a:pPr algn="l" latinLnBrk="1"/>
            <a:r>
              <a:rPr lang="en" altLang="ko-KR" sz="1800" b="1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repository</a:t>
            </a:r>
            <a:r>
              <a:rPr lang="en" altLang="ko-KR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 : </a:t>
            </a:r>
            <a:r>
              <a:rPr lang="ko-KR" altLang="en-US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실제로 저장하고 기록하는 공간 </a:t>
            </a:r>
            <a:r>
              <a:rPr lang="en-US" altLang="ko-KR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(</a:t>
            </a:r>
            <a:r>
              <a:rPr lang="ko-KR" altLang="en-US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복귀지점</a:t>
            </a:r>
            <a:r>
              <a:rPr lang="en-US" altLang="ko-KR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. </a:t>
            </a:r>
            <a:r>
              <a:rPr lang="en" altLang="ko-KR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Commit</a:t>
            </a:r>
            <a:r>
              <a:rPr lang="en-US" altLang="ko-KR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)</a:t>
            </a:r>
          </a:p>
          <a:p>
            <a:pPr algn="l" latinLnBrk="1"/>
            <a:endParaRPr lang="en-US" altLang="ko-KR" sz="1800" dirty="0">
              <a:latin typeface="AppleSDGothicNeo" panose="02000300000000000000" pitchFamily="2" charset="-127"/>
              <a:ea typeface="AppleSDGothicNeo" panose="02000300000000000000" pitchFamily="2" charset="-127"/>
            </a:endParaRPr>
          </a:p>
          <a:p>
            <a:pPr algn="l" latinLnBrk="1"/>
            <a:endParaRPr lang="en-US" altLang="ko-KR" sz="1800" b="0" i="0" dirty="0">
              <a:effectLst/>
              <a:latin typeface="AppleSDGothicNeo" panose="02000300000000000000" pitchFamily="2" charset="-127"/>
              <a:ea typeface="AppleSDGothicNeo" panose="02000300000000000000" pitchFamily="2" charset="-127"/>
            </a:endParaRPr>
          </a:p>
          <a:p>
            <a:pPr algn="l" latinLnBrk="1"/>
            <a:r>
              <a:rPr lang="ko-KR" altLang="en-US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이렇게 논리적으로 공간을 분리하는 것은 깃의 동작과 이력을 더 효율적으로 처리하기 </a:t>
            </a:r>
            <a:r>
              <a:rPr lang="ko-KR" altLang="en-US" sz="1800" b="0" i="0" dirty="0" err="1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위한것입니다</a:t>
            </a:r>
            <a:r>
              <a:rPr lang="en-US" altLang="ko-KR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.</a:t>
            </a:r>
          </a:p>
          <a:p>
            <a:pPr algn="l" latinLnBrk="1"/>
            <a:r>
              <a:rPr lang="ko-KR" altLang="en-US" sz="1800" b="1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워킹 디렉터리</a:t>
            </a:r>
            <a:r>
              <a:rPr lang="ko-KR" altLang="en-US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는 말 그대로 로컬 저장소에 </a:t>
            </a:r>
            <a:r>
              <a:rPr lang="ko-KR" altLang="en-US" sz="1800" b="0" i="0" dirty="0" err="1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접근하는곳으로</a:t>
            </a:r>
            <a:r>
              <a:rPr lang="ko-KR" altLang="en-US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 실제로 파일을 수정하고 저장하는 공간 입니다</a:t>
            </a:r>
            <a:r>
              <a:rPr lang="en-US" altLang="ko-KR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.</a:t>
            </a:r>
          </a:p>
          <a:p>
            <a:pPr algn="l" latinLnBrk="1"/>
            <a:endParaRPr lang="en" altLang="ko-KR" sz="1800" b="0" i="0" dirty="0">
              <a:effectLst/>
              <a:latin typeface="AppleSDGothicNeo" panose="02000300000000000000" pitchFamily="2" charset="-127"/>
              <a:ea typeface="AppleSDGothicNeo" panose="02000300000000000000" pitchFamily="2" charset="-127"/>
            </a:endParaRPr>
          </a:p>
          <a:p>
            <a:pPr algn="l" latinLnBrk="1"/>
            <a:r>
              <a:rPr lang="ko-KR" altLang="en-US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해당 디렉토리를 </a:t>
            </a:r>
            <a:r>
              <a:rPr lang="en-US" altLang="ko-KR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git </a:t>
            </a:r>
            <a:r>
              <a:rPr lang="ko-KR" altLang="en-US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저장소로 만들기</a:t>
            </a:r>
            <a:r>
              <a:rPr lang="en-US" altLang="ko-KR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(git </a:t>
            </a:r>
            <a:r>
              <a:rPr lang="ko-KR" altLang="en-US" sz="1800" b="0" i="0" dirty="0" err="1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시작할때</a:t>
            </a:r>
            <a:r>
              <a:rPr lang="ko-KR" altLang="en-US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 필수</a:t>
            </a:r>
            <a:r>
              <a:rPr lang="en-US" altLang="ko-KR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)</a:t>
            </a:r>
          </a:p>
          <a:p>
            <a:pPr algn="l" latinLnBrk="1"/>
            <a:r>
              <a:rPr lang="en-US" altLang="ko-KR" sz="1800" b="1" dirty="0">
                <a:latin typeface="AppleSDGothicNeo" panose="02000300000000000000" pitchFamily="2" charset="-127"/>
                <a:ea typeface="AppleSDGothicNeo" panose="02000300000000000000" pitchFamily="2" charset="-127"/>
              </a:rPr>
              <a:t>git </a:t>
            </a:r>
            <a:r>
              <a:rPr lang="en-US" altLang="ko-KR" sz="1800" b="1" dirty="0" err="1">
                <a:latin typeface="AppleSDGothicNeo" panose="02000300000000000000" pitchFamily="2" charset="-127"/>
                <a:ea typeface="AppleSDGothicNeo" panose="02000300000000000000" pitchFamily="2" charset="-127"/>
              </a:rPr>
              <a:t>init</a:t>
            </a:r>
            <a:endParaRPr lang="en" altLang="ko-KR" sz="1800" b="1" i="0" dirty="0">
              <a:effectLst/>
              <a:latin typeface="AppleSDGothicNeo" panose="02000300000000000000" pitchFamily="2" charset="-127"/>
              <a:ea typeface="AppleSDGothic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354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44D618-A891-E7A4-90CF-F27046482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i="0" dirty="0">
                <a:solidFill>
                  <a:srgbClr val="000000"/>
                </a:solidFill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파일의 </a:t>
            </a:r>
            <a:r>
              <a:rPr lang="en" altLang="ko-KR" b="0" i="0" dirty="0">
                <a:solidFill>
                  <a:srgbClr val="000000"/>
                </a:solidFill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untracked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상태와 </a:t>
            </a:r>
            <a:r>
              <a:rPr lang="en" altLang="ko-KR" b="0" i="0" dirty="0">
                <a:solidFill>
                  <a:srgbClr val="000000"/>
                </a:solidFill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tracked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상태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379F48-4ADB-59BC-AA80-621676481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ko-KR" altLang="en-US" sz="1800" dirty="0"/>
              <a:t>깃은 워킹 디렉터리에 있는 파일들을 </a:t>
            </a:r>
            <a:r>
              <a:rPr kumimoji="1" lang="en-US" altLang="ko-KR" sz="1800" dirty="0"/>
              <a:t>'</a:t>
            </a:r>
            <a:r>
              <a:rPr kumimoji="1" lang="ko-KR" altLang="en-US" sz="1800" dirty="0"/>
              <a:t>추적됨</a:t>
            </a:r>
            <a:r>
              <a:rPr kumimoji="1" lang="en-US" altLang="ko-KR" sz="1800" dirty="0"/>
              <a:t>'</a:t>
            </a:r>
            <a:r>
              <a:rPr kumimoji="1" lang="ko-KR" altLang="en-US" sz="1800" dirty="0"/>
              <a:t>과 </a:t>
            </a:r>
            <a:r>
              <a:rPr kumimoji="1" lang="en-US" altLang="ko-KR" sz="1800" dirty="0"/>
              <a:t>'</a:t>
            </a:r>
            <a:r>
              <a:rPr kumimoji="1" lang="ko-KR" altLang="en-US" sz="1800" dirty="0"/>
              <a:t>추적되지 않음</a:t>
            </a:r>
            <a:r>
              <a:rPr kumimoji="1" lang="en-US" altLang="ko-KR" sz="1800" dirty="0"/>
              <a:t>' </a:t>
            </a:r>
            <a:r>
              <a:rPr kumimoji="1" lang="ko-KR" altLang="en-US" sz="1800" dirty="0"/>
              <a:t>상태로 구분합니다</a:t>
            </a:r>
            <a:r>
              <a:rPr kumimoji="1" lang="en-US" altLang="ko-KR" sz="1800" dirty="0"/>
              <a:t>.</a:t>
            </a:r>
          </a:p>
          <a:p>
            <a:r>
              <a:rPr kumimoji="1" lang="en-US" altLang="ko-KR" sz="1800" dirty="0"/>
              <a:t>git</a:t>
            </a:r>
            <a:r>
              <a:rPr kumimoji="1" lang="ko-KR" altLang="en-US" sz="1800" dirty="0"/>
              <a:t>에게 이 파일의 </a:t>
            </a:r>
            <a:r>
              <a:rPr kumimoji="1" lang="ko-KR" altLang="en-US" sz="1800" dirty="0" err="1"/>
              <a:t>변경사항등을</a:t>
            </a:r>
            <a:r>
              <a:rPr kumimoji="1" lang="ko-KR" altLang="en-US" sz="1800" dirty="0"/>
              <a:t> 감시할지</a:t>
            </a:r>
            <a:r>
              <a:rPr kumimoji="1" lang="en-US" altLang="ko-KR" sz="1800" dirty="0"/>
              <a:t>,</a:t>
            </a:r>
            <a:r>
              <a:rPr kumimoji="1" lang="ko-KR" altLang="en-US" sz="1800" dirty="0"/>
              <a:t> </a:t>
            </a:r>
            <a:r>
              <a:rPr kumimoji="1" lang="en-US" altLang="ko-KR" sz="1800" dirty="0"/>
              <a:t>push </a:t>
            </a:r>
            <a:r>
              <a:rPr kumimoji="1" lang="ko-KR" altLang="en-US" sz="1800" dirty="0" err="1"/>
              <a:t>할때</a:t>
            </a:r>
            <a:r>
              <a:rPr kumimoji="1" lang="ko-KR" altLang="en-US" sz="1800" dirty="0"/>
              <a:t> </a:t>
            </a:r>
            <a:r>
              <a:rPr kumimoji="1" lang="en-US" altLang="ko-KR" sz="1800" dirty="0" err="1"/>
              <a:t>github</a:t>
            </a:r>
            <a:r>
              <a:rPr kumimoji="1" lang="ko-KR" altLang="en-US" sz="1800" dirty="0"/>
              <a:t>에 올릴지 </a:t>
            </a:r>
            <a:r>
              <a:rPr kumimoji="1" lang="ko-KR" altLang="en-US" sz="1800" dirty="0" err="1"/>
              <a:t>명령하는것입니다</a:t>
            </a:r>
            <a:r>
              <a:rPr kumimoji="1" lang="en-US" altLang="ko-KR" sz="1800" dirty="0"/>
              <a:t>.</a:t>
            </a:r>
          </a:p>
          <a:p>
            <a:r>
              <a:rPr kumimoji="1" lang="en-US" altLang="ko-KR" sz="1800" b="1" dirty="0"/>
              <a:t>git add </a:t>
            </a:r>
            <a:r>
              <a:rPr kumimoji="1" lang="ko-KR" altLang="en-US" sz="1800" b="1" dirty="0"/>
              <a:t>파일이름 </a:t>
            </a:r>
            <a:r>
              <a:rPr kumimoji="1" lang="ko-KR" altLang="en-US" sz="1800" dirty="0"/>
              <a:t>이나 </a:t>
            </a:r>
            <a:r>
              <a:rPr kumimoji="1" lang="en-US" altLang="ko-KR" sz="1800" b="1" dirty="0"/>
              <a:t>git add .</a:t>
            </a:r>
            <a:r>
              <a:rPr kumimoji="1" lang="en-US" altLang="ko-KR" sz="1800" dirty="0"/>
              <a:t> (</a:t>
            </a:r>
            <a:r>
              <a:rPr kumimoji="1" lang="ko-KR" altLang="en-US" sz="1800" dirty="0"/>
              <a:t>이 폴더에 있는 파일 전체</a:t>
            </a:r>
            <a:r>
              <a:rPr kumimoji="1" lang="en-US" altLang="ko-KR" sz="1800" dirty="0"/>
              <a:t>)</a:t>
            </a:r>
            <a:r>
              <a:rPr kumimoji="1" lang="ko-KR" altLang="en-US" sz="1800" dirty="0" err="1"/>
              <a:t>를</a:t>
            </a:r>
            <a:r>
              <a:rPr kumimoji="1" lang="ko-KR" altLang="en-US" sz="1800" dirty="0"/>
              <a:t> 해서 깃에게 </a:t>
            </a:r>
            <a:r>
              <a:rPr kumimoji="1" lang="ko-KR" altLang="en-US" sz="1800" dirty="0" err="1"/>
              <a:t>추적시킬수</a:t>
            </a:r>
            <a:r>
              <a:rPr kumimoji="1" lang="ko-KR" altLang="en-US" sz="1800" dirty="0"/>
              <a:t> 있습니다</a:t>
            </a:r>
            <a:r>
              <a:rPr kumimoji="1" lang="en-US" altLang="ko-KR" sz="1800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4C058A2-32F5-02C5-3BA9-9FF331909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0" y="3068474"/>
            <a:ext cx="6286500" cy="378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874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FD2BEA-81CA-9E6B-39D9-224A2F237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Git </a:t>
            </a:r>
            <a:r>
              <a:rPr kumimoji="1" lang="ko-KR" altLang="en-US" dirty="0"/>
              <a:t>스테이지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A1BAB1-DBE3-660E-6409-8BF498BD1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2125"/>
            <a:ext cx="10515600" cy="4351338"/>
          </a:xfrm>
        </p:spPr>
        <p:txBody>
          <a:bodyPr>
            <a:normAutofit/>
          </a:bodyPr>
          <a:lstStyle/>
          <a:p>
            <a:r>
              <a:rPr lang="ko-KR" altLang="en-US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스테이지는 </a:t>
            </a:r>
            <a:r>
              <a:rPr lang="ko-KR" altLang="en-US" sz="1800" b="0" i="0" dirty="0" err="1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워킹디렉토리와</a:t>
            </a:r>
            <a:r>
              <a:rPr lang="ko-KR" altLang="en-US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 </a:t>
            </a:r>
            <a:r>
              <a:rPr lang="ko-KR" altLang="en-US" sz="1800" b="0" i="0" dirty="0" err="1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리포지토리</a:t>
            </a:r>
            <a:r>
              <a:rPr lang="ko-KR" altLang="en-US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 사이에 있는 임시 영역입니다</a:t>
            </a:r>
            <a:r>
              <a:rPr lang="en-US" altLang="ko-KR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.</a:t>
            </a:r>
          </a:p>
          <a:p>
            <a:r>
              <a:rPr lang="ko-KR" altLang="en-US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깃은 워킹 디렉터리에서 작업이 끝난 파일을 스테이지로 잠시 복사합니다</a:t>
            </a:r>
            <a:r>
              <a:rPr lang="en-US" altLang="ko-KR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.</a:t>
            </a:r>
            <a:endParaRPr lang="en-US" altLang="ko-KR" sz="1800" dirty="0">
              <a:latin typeface="AppleSDGothicNeo" panose="02000300000000000000" pitchFamily="2" charset="-127"/>
              <a:ea typeface="AppleSDGothicNeo" panose="02000300000000000000" pitchFamily="2" charset="-127"/>
            </a:endParaRPr>
          </a:p>
          <a:p>
            <a:r>
              <a:rPr kumimoji="1" lang="ko-KR" altLang="en-US" sz="1800" dirty="0"/>
              <a:t>파일들의 스테이지 상태는 </a:t>
            </a:r>
            <a:r>
              <a:rPr kumimoji="1" lang="en" altLang="ko-KR" sz="1800" dirty="0"/>
              <a:t>git status </a:t>
            </a:r>
            <a:r>
              <a:rPr kumimoji="1" lang="ko-KR" altLang="en-US" sz="1800" dirty="0"/>
              <a:t>명령어로 확인 할 수 있습니다</a:t>
            </a:r>
            <a:r>
              <a:rPr kumimoji="1" lang="en-US" altLang="ko-KR" sz="1800" dirty="0"/>
              <a:t>.</a:t>
            </a:r>
          </a:p>
          <a:p>
            <a:r>
              <a:rPr kumimoji="1" lang="ko-KR" altLang="en-US" sz="1800" dirty="0"/>
              <a:t>워킹에서 자신이 저장한 파일들이 스테이지에 제대로 올라갔는지</a:t>
            </a:r>
            <a:r>
              <a:rPr kumimoji="1" lang="en-US" altLang="ko-KR" sz="1800" dirty="0"/>
              <a:t> </a:t>
            </a:r>
            <a:r>
              <a:rPr kumimoji="1" lang="ko-KR" altLang="en-US" sz="1800" dirty="0"/>
              <a:t>체크 </a:t>
            </a:r>
            <a:r>
              <a:rPr kumimoji="1" lang="ko-KR" altLang="en-US" sz="1800" dirty="0" err="1"/>
              <a:t>해줘야됩니다</a:t>
            </a:r>
            <a:r>
              <a:rPr kumimoji="1" lang="en-US" altLang="ko-KR" sz="1800" dirty="0"/>
              <a:t>.</a:t>
            </a:r>
            <a:endParaRPr kumimoji="1" lang="ko-KR" altLang="en-US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9A3C4A2-8964-BCCA-F14D-27C7AEFDC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950" y="3607932"/>
            <a:ext cx="6896100" cy="310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644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44D618-A891-E7A4-90CF-F27046482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파일의 </a:t>
            </a:r>
            <a:r>
              <a:rPr lang="en" altLang="ko-KR" b="0" i="0" dirty="0">
                <a:solidFill>
                  <a:srgbClr val="000000"/>
                </a:solidFill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modified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상태와 </a:t>
            </a:r>
            <a:r>
              <a:rPr lang="en" altLang="ko-KR" b="0" i="0" dirty="0">
                <a:solidFill>
                  <a:srgbClr val="000000"/>
                </a:solidFill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unmodified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상태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379F48-4ADB-59BC-AA80-621676481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690688"/>
            <a:ext cx="11684000" cy="4802187"/>
          </a:xfrm>
        </p:spPr>
        <p:txBody>
          <a:bodyPr>
            <a:normAutofit/>
          </a:bodyPr>
          <a:lstStyle/>
          <a:p>
            <a:r>
              <a:rPr kumimoji="1" lang="ko-KR" altLang="en-US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워킹에서 등록</a:t>
            </a:r>
            <a:r>
              <a:rPr kumimoji="1" lang="en-US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(</a:t>
            </a:r>
            <a:r>
              <a:rPr kumimoji="1" lang="en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git add </a:t>
            </a:r>
            <a:r>
              <a:rPr kumimoji="1" lang="ko-KR" altLang="en-US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파일이름</a:t>
            </a:r>
            <a:r>
              <a:rPr kumimoji="1" lang="en-US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)</a:t>
            </a:r>
            <a:r>
              <a:rPr kumimoji="1" lang="ko-KR" altLang="en-US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하면 스테이지에 등록되어 </a:t>
            </a:r>
            <a:r>
              <a:rPr kumimoji="1" lang="en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tracked </a:t>
            </a:r>
            <a:r>
              <a:rPr kumimoji="1" lang="ko-KR" altLang="en-US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상태가 돼서 파일을 수정하지 않으면 계속 스테이지 상태에 머무릅니다</a:t>
            </a:r>
            <a:r>
              <a:rPr kumimoji="1" lang="en-US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r>
              <a:rPr kumimoji="1" lang="ko-KR" altLang="en-US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워킹에서 파일이 수정되면 </a:t>
            </a:r>
            <a:r>
              <a:rPr kumimoji="1" lang="en-US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modified </a:t>
            </a:r>
            <a:r>
              <a:rPr kumimoji="1" lang="ko-KR" altLang="en-US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상태가 되고</a:t>
            </a:r>
            <a:r>
              <a:rPr kumimoji="1" lang="en-US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kumimoji="1" lang="ko-KR" altLang="en-US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스테이지에 </a:t>
            </a:r>
            <a:r>
              <a:rPr kumimoji="1" lang="ko-KR" altLang="en-US" sz="1800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떨어져나와</a:t>
            </a:r>
            <a:r>
              <a:rPr kumimoji="1" lang="ko-KR" altLang="en-US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kumimoji="1" lang="en-US" altLang="ko-KR" sz="1800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unstaged</a:t>
            </a:r>
            <a:r>
              <a:rPr kumimoji="1" lang="en-US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kumimoji="1" lang="ko-KR" altLang="en-US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상태가 됩니다</a:t>
            </a:r>
            <a:r>
              <a:rPr kumimoji="1" lang="en-US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0" indent="0">
              <a:buNone/>
            </a:pPr>
            <a:r>
              <a:rPr kumimoji="1" lang="en-US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(</a:t>
            </a:r>
            <a:r>
              <a:rPr kumimoji="1" lang="ko-KR" altLang="en-US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스테이지에서 </a:t>
            </a:r>
            <a:r>
              <a:rPr kumimoji="1" lang="en-US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tracked(</a:t>
            </a:r>
            <a:r>
              <a:rPr kumimoji="1" lang="ko-KR" altLang="en-US" sz="1800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추적중</a:t>
            </a:r>
            <a:r>
              <a:rPr kumimoji="1" lang="en-US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) </a:t>
            </a:r>
            <a:r>
              <a:rPr kumimoji="1" lang="ko-KR" altLang="en-US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상태이지만 스테이지에 내용이 제대로 업로드가 안된 </a:t>
            </a:r>
            <a:r>
              <a:rPr kumimoji="1" lang="en-US" altLang="ko-KR" sz="1800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unstage</a:t>
            </a:r>
            <a:r>
              <a:rPr kumimoji="1" lang="en-US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kumimoji="1" lang="ko-KR" altLang="en-US" sz="1800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상태인거죠</a:t>
            </a:r>
            <a:r>
              <a:rPr kumimoji="1" lang="en-US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)</a:t>
            </a:r>
          </a:p>
          <a:p>
            <a:pPr marL="0" indent="0">
              <a:buNone/>
            </a:pPr>
            <a:endParaRPr kumimoji="1" lang="en-US" altLang="ko-KR" sz="18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0" indent="0">
              <a:buNone/>
            </a:pPr>
            <a:r>
              <a:rPr kumimoji="1" lang="ko-KR" altLang="en-US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이때는 수정한 내용을 다시 </a:t>
            </a:r>
            <a:r>
              <a:rPr kumimoji="1" lang="en-US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git add</a:t>
            </a:r>
            <a:r>
              <a:rPr kumimoji="1" lang="ko-KR" altLang="en-US" sz="1800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를</a:t>
            </a:r>
            <a:r>
              <a:rPr kumimoji="1" lang="ko-KR" altLang="en-US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이용해 </a:t>
            </a:r>
            <a:r>
              <a:rPr kumimoji="1" lang="en-US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stage</a:t>
            </a:r>
            <a:r>
              <a:rPr kumimoji="1" lang="ko-KR" altLang="en-US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에 </a:t>
            </a:r>
            <a:r>
              <a:rPr kumimoji="1" lang="ko-KR" altLang="en-US" sz="1800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올려줘야합니다</a:t>
            </a:r>
            <a:r>
              <a:rPr kumimoji="1" lang="en-US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0" indent="0">
              <a:buNone/>
            </a:pPr>
            <a:r>
              <a:rPr kumimoji="1" lang="en-US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(git commit –am “</a:t>
            </a:r>
            <a:r>
              <a:rPr kumimoji="1" lang="ko-KR" altLang="en-US" sz="1800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커밋</a:t>
            </a:r>
            <a:r>
              <a:rPr kumimoji="1" lang="ko-KR" altLang="en-US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메세지도</a:t>
            </a:r>
            <a:r>
              <a:rPr kumimoji="1" lang="en-US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” </a:t>
            </a:r>
            <a:r>
              <a:rPr kumimoji="1" lang="ko-KR" altLang="en-US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가능하다</a:t>
            </a:r>
            <a:r>
              <a:rPr kumimoji="1" lang="en-US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)</a:t>
            </a:r>
          </a:p>
          <a:p>
            <a:pPr marL="0" indent="0">
              <a:buNone/>
            </a:pPr>
            <a:r>
              <a:rPr kumimoji="1" lang="en-US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git add -&gt; track, stage</a:t>
            </a:r>
            <a:r>
              <a:rPr kumimoji="1" lang="ko-KR" altLang="en-US" sz="1800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해줌</a:t>
            </a:r>
            <a:endParaRPr kumimoji="1" lang="en-US" altLang="ko-KR" sz="18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0" indent="0">
              <a:buNone/>
            </a:pPr>
            <a:r>
              <a:rPr kumimoji="1" lang="en-US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git commit –a -&gt; stage</a:t>
            </a:r>
            <a:r>
              <a:rPr kumimoji="1" lang="ko-KR" altLang="en-US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하고 그 시점을 체크포인트로 찍는다</a:t>
            </a:r>
            <a:r>
              <a:rPr kumimoji="1" lang="en-US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(</a:t>
            </a:r>
            <a:r>
              <a:rPr kumimoji="1" lang="ko-KR" altLang="en-US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새파일은 </a:t>
            </a:r>
            <a:r>
              <a:rPr kumimoji="1" lang="en-US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untracked </a:t>
            </a:r>
            <a:r>
              <a:rPr kumimoji="1" lang="ko-KR" altLang="en-US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상태이므로 당연히 등록이 안된다</a:t>
            </a:r>
            <a:r>
              <a:rPr kumimoji="1" lang="en-US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.)</a:t>
            </a:r>
          </a:p>
          <a:p>
            <a:pPr marL="0" indent="0">
              <a:buNone/>
            </a:pPr>
            <a:endParaRPr kumimoji="1" lang="en-US" altLang="ko-KR" sz="18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0" indent="0">
              <a:buNone/>
            </a:pPr>
            <a:r>
              <a:rPr kumimoji="1" lang="ko-KR" altLang="en-US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초기에 파일 </a:t>
            </a:r>
            <a:r>
              <a:rPr kumimoji="1" lang="en-US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add</a:t>
            </a:r>
            <a:r>
              <a:rPr kumimoji="1" lang="ko-KR" altLang="en-US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해서 </a:t>
            </a:r>
            <a:r>
              <a:rPr kumimoji="1" lang="en-US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tracked</a:t>
            </a:r>
            <a:r>
              <a:rPr kumimoji="1" lang="ko-KR" altLang="en-US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와 </a:t>
            </a:r>
            <a:r>
              <a:rPr kumimoji="1" lang="en-US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stage</a:t>
            </a:r>
            <a:r>
              <a:rPr kumimoji="1" lang="ko-KR" altLang="en-US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동시에 </a:t>
            </a:r>
            <a:r>
              <a:rPr kumimoji="1" lang="ko-KR" altLang="en-US" sz="1800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시켜줌</a:t>
            </a:r>
            <a:r>
              <a:rPr kumimoji="1" lang="ko-KR" altLang="en-US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kumimoji="1" lang="en-US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-&gt; commit</a:t>
            </a:r>
            <a:r>
              <a:rPr kumimoji="1" lang="ko-KR" altLang="en-US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을 통해서 체크포인트 찍음 </a:t>
            </a:r>
            <a:r>
              <a:rPr kumimoji="1" lang="en-US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-&gt; </a:t>
            </a:r>
            <a:r>
              <a:rPr kumimoji="1" lang="ko-KR" altLang="en-US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추후에</a:t>
            </a:r>
            <a:r>
              <a:rPr kumimoji="1" lang="en-US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kumimoji="1" lang="ko-KR" altLang="en-US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파일을 수정하고 체크포인트를 찍고 싶음 </a:t>
            </a:r>
            <a:r>
              <a:rPr kumimoji="1" lang="en-US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-&gt; </a:t>
            </a:r>
            <a:r>
              <a:rPr kumimoji="1" lang="ko-KR" altLang="en-US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수정된 파일은</a:t>
            </a:r>
            <a:r>
              <a:rPr kumimoji="1" lang="en-US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kumimoji="1" lang="en-US" altLang="ko-KR" sz="1800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unstaged</a:t>
            </a:r>
            <a:r>
              <a:rPr kumimoji="1" lang="ko-KR" altLang="en-US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되지만 </a:t>
            </a:r>
            <a:r>
              <a:rPr kumimoji="1" lang="en-US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tracked </a:t>
            </a:r>
            <a:r>
              <a:rPr kumimoji="1" lang="ko-KR" altLang="en-US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상태이므로 </a:t>
            </a:r>
            <a:r>
              <a:rPr kumimoji="1" lang="en-US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git</a:t>
            </a:r>
            <a:r>
              <a:rPr kumimoji="1" lang="ko-KR" altLang="en-US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은 변화를 추적하고 있다</a:t>
            </a:r>
            <a:r>
              <a:rPr kumimoji="1" lang="en-US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-&gt; </a:t>
            </a:r>
            <a:r>
              <a:rPr kumimoji="1" lang="ko-KR" altLang="en-US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다시 </a:t>
            </a:r>
            <a:r>
              <a:rPr kumimoji="1" lang="en-US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stage</a:t>
            </a:r>
            <a:r>
              <a:rPr kumimoji="1" lang="ko-KR" altLang="en-US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만 시켜주고 </a:t>
            </a:r>
            <a:r>
              <a:rPr kumimoji="1" lang="en-US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commit </a:t>
            </a:r>
            <a:r>
              <a:rPr kumimoji="1" lang="ko-KR" altLang="en-US" sz="1800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하면된다</a:t>
            </a:r>
            <a:r>
              <a:rPr kumimoji="1" lang="en-US" altLang="ko-KR" sz="18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6014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C5983F-39F7-9479-B843-20DF413CC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git commit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51EB92-51B0-F4E7-C07A-A29A1A19C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b="1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깃의 </a:t>
            </a:r>
            <a:r>
              <a:rPr lang="ko-KR" altLang="en-US" sz="2000" b="1" i="0" dirty="0" err="1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커밋을</a:t>
            </a:r>
            <a:r>
              <a:rPr lang="ko-KR" altLang="en-US" sz="2000" b="1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 이용하면 새로 변경된 부분만 추출해서 저장합니다</a:t>
            </a:r>
            <a:r>
              <a:rPr lang="en-US" altLang="ko-KR" sz="2000" b="1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.</a:t>
            </a:r>
          </a:p>
          <a:p>
            <a:endParaRPr lang="en" altLang="ko-KR" sz="2000" b="1" i="0" dirty="0">
              <a:effectLst/>
              <a:latin typeface="AppleSDGothicNeo" panose="02000300000000000000" pitchFamily="2" charset="-127"/>
              <a:ea typeface="AppleSDGothicNeo" panose="02000300000000000000" pitchFamily="2" charset="-127"/>
            </a:endParaRPr>
          </a:p>
          <a:p>
            <a:pPr algn="l" latinLnBrk="1"/>
            <a:r>
              <a:rPr lang="en" altLang="ko-KR" sz="2000" b="1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git commit -m "</a:t>
            </a:r>
            <a:r>
              <a:rPr lang="ko-KR" altLang="en-US" sz="2000" b="1" i="0" dirty="0" err="1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커밋이름</a:t>
            </a:r>
            <a:r>
              <a:rPr lang="en-US" altLang="ko-KR" sz="2000" b="1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" : </a:t>
            </a:r>
            <a:r>
              <a:rPr lang="en" altLang="ko-KR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stage</a:t>
            </a:r>
            <a:r>
              <a:rPr lang="ko-KR" altLang="en-US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에 올라간 파일을 </a:t>
            </a:r>
            <a:r>
              <a:rPr lang="ko-KR" altLang="en-US" sz="2000" b="0" i="0" dirty="0" err="1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커밋</a:t>
            </a:r>
            <a:endParaRPr lang="ko-KR" altLang="en-US" sz="2000" b="0" i="0" dirty="0">
              <a:effectLst/>
              <a:latin typeface="AppleSDGothicNeo" panose="02000300000000000000" pitchFamily="2" charset="-127"/>
              <a:ea typeface="AppleSDGothicNeo" panose="02000300000000000000" pitchFamily="2" charset="-127"/>
            </a:endParaRPr>
          </a:p>
          <a:p>
            <a:pPr algn="l" latinLnBrk="1"/>
            <a:r>
              <a:rPr lang="en" altLang="ko-KR" sz="2000" b="1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git commit -am "</a:t>
            </a:r>
            <a:r>
              <a:rPr lang="ko-KR" altLang="en-US" sz="2000" b="1" i="0" dirty="0" err="1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커밋이름</a:t>
            </a:r>
            <a:r>
              <a:rPr lang="en-US" altLang="ko-KR" sz="2000" b="1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" : </a:t>
            </a:r>
            <a:r>
              <a:rPr lang="ko-KR" altLang="en-US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수정돼서 </a:t>
            </a:r>
            <a:r>
              <a:rPr lang="en" altLang="ko-KR" sz="2000" b="0" i="0" dirty="0" err="1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unstaged</a:t>
            </a:r>
            <a:r>
              <a:rPr lang="en" altLang="ko-KR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 </a:t>
            </a:r>
            <a:r>
              <a:rPr lang="ko-KR" altLang="en-US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된 파일을 다시 </a:t>
            </a:r>
            <a:r>
              <a:rPr lang="en" altLang="ko-KR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stage </a:t>
            </a:r>
            <a:r>
              <a:rPr lang="ko-KR" altLang="en-US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시켜주면서 동시에 커밋하는 명령어</a:t>
            </a:r>
          </a:p>
          <a:p>
            <a:pPr algn="l" latinLnBrk="1"/>
            <a:r>
              <a:rPr lang="ko-KR" altLang="en-US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주의 </a:t>
            </a:r>
            <a:r>
              <a:rPr lang="ko-KR" altLang="en-US" sz="2000" b="0" i="0" dirty="0" err="1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할것은</a:t>
            </a:r>
            <a:r>
              <a:rPr lang="ko-KR" altLang="en-US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 </a:t>
            </a:r>
            <a:r>
              <a:rPr lang="en" altLang="ko-KR" sz="2000" b="1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git commit -am </a:t>
            </a:r>
            <a:r>
              <a:rPr lang="ko-KR" altLang="en-US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을 한다고 해서 새로 생성된 파일을 </a:t>
            </a:r>
            <a:r>
              <a:rPr lang="en" altLang="ko-KR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add </a:t>
            </a:r>
            <a:r>
              <a:rPr lang="ko-KR" altLang="en-US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시켜주진 않습니다</a:t>
            </a:r>
            <a:r>
              <a:rPr lang="en-US" altLang="ko-KR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. </a:t>
            </a:r>
            <a:r>
              <a:rPr lang="ko-KR" altLang="en-US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이미 </a:t>
            </a:r>
            <a:r>
              <a:rPr lang="en" altLang="ko-KR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tracked</a:t>
            </a:r>
            <a:r>
              <a:rPr lang="ko-KR" altLang="en-US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된 파일만 다시 </a:t>
            </a:r>
            <a:r>
              <a:rPr lang="en" altLang="ko-KR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staged </a:t>
            </a:r>
            <a:r>
              <a:rPr lang="ko-KR" altLang="en-US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시켜줍니다</a:t>
            </a:r>
            <a:r>
              <a:rPr lang="en-US" altLang="ko-KR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AE7DF9A-6EC7-8E75-BF4A-F3E1C6C07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4689189"/>
            <a:ext cx="5041900" cy="148777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158579E-2458-2E5F-DE01-F5070ADAD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648200"/>
            <a:ext cx="5905500" cy="166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8983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57CBF4-F653-FCE2-A95E-9A57B021D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err="1"/>
              <a:t>Github</a:t>
            </a:r>
            <a:r>
              <a:rPr kumimoji="1" lang="ko-KR" altLang="en-US" dirty="0"/>
              <a:t>란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78E052-EA99-C3AF-7DAD-4C0BE3F0D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825625"/>
            <a:ext cx="6527800" cy="4351338"/>
          </a:xfrm>
        </p:spPr>
        <p:txBody>
          <a:bodyPr>
            <a:normAutofit/>
          </a:bodyPr>
          <a:lstStyle/>
          <a:p>
            <a:r>
              <a:rPr kumimoji="1" lang="en" altLang="ko-KR" sz="1600" dirty="0"/>
              <a:t>GitHub</a:t>
            </a:r>
            <a:r>
              <a:rPr kumimoji="1" lang="ko-KR" altLang="en-US" sz="1600" dirty="0"/>
              <a:t>는 </a:t>
            </a:r>
            <a:r>
              <a:rPr kumimoji="1" lang="en" altLang="ko-KR" sz="1600" dirty="0"/>
              <a:t>Git</a:t>
            </a:r>
            <a:r>
              <a:rPr kumimoji="1" lang="ko-KR" altLang="en-US" sz="1600" dirty="0"/>
              <a:t>을 기반으로 한 코드 저장소 및 협업 플랫폼이다</a:t>
            </a:r>
            <a:r>
              <a:rPr kumimoji="1" lang="en-US" altLang="ko-KR" sz="1600" dirty="0"/>
              <a:t>.</a:t>
            </a:r>
            <a:endParaRPr kumimoji="1" lang="en" altLang="ko-KR" sz="1600" dirty="0">
              <a:hlinkClick r:id="rId2"/>
            </a:endParaRPr>
          </a:p>
          <a:p>
            <a:endParaRPr kumimoji="1" lang="en" altLang="ko-KR" sz="1600" dirty="0">
              <a:hlinkClick r:id="rId2"/>
            </a:endParaRPr>
          </a:p>
          <a:p>
            <a:r>
              <a:rPr kumimoji="1" lang="en-US" altLang="ko-KR" sz="1600" dirty="0">
                <a:hlinkClick r:id="rId3"/>
              </a:rPr>
              <a:t>https://github.com/konkuk-kuggle/13th_Seminar</a:t>
            </a:r>
            <a:endParaRPr kumimoji="1" lang="en-US" altLang="ko-KR" sz="1600" dirty="0"/>
          </a:p>
          <a:p>
            <a:r>
              <a:rPr kumimoji="1" lang="ko-KR" altLang="en-US" sz="1600" dirty="0"/>
              <a:t>원격저장소</a:t>
            </a:r>
            <a:r>
              <a:rPr kumimoji="1" lang="en-US" altLang="ko-KR" sz="1600" dirty="0"/>
              <a:t>(</a:t>
            </a:r>
            <a:r>
              <a:rPr kumimoji="1" lang="ko-KR" altLang="en-US" sz="1600" dirty="0" err="1"/>
              <a:t>레포지토리</a:t>
            </a:r>
            <a:r>
              <a:rPr kumimoji="1" lang="en-US" altLang="ko-KR" sz="1600" dirty="0"/>
              <a:t>) </a:t>
            </a:r>
            <a:r>
              <a:rPr kumimoji="1" lang="ko-KR" altLang="en-US" sz="1600" dirty="0"/>
              <a:t>링크 저장하기</a:t>
            </a:r>
            <a:r>
              <a:rPr kumimoji="1" lang="en-US" altLang="ko-KR" sz="1600" dirty="0"/>
              <a:t>!</a:t>
            </a:r>
          </a:p>
          <a:p>
            <a:endParaRPr kumimoji="1" lang="en-US" altLang="ko-KR" sz="1600" dirty="0"/>
          </a:p>
          <a:p>
            <a:r>
              <a:rPr kumimoji="1" lang="ko-KR" altLang="en-US" sz="1600" dirty="0"/>
              <a:t>다들 협업 지식 없이 같은 </a:t>
            </a:r>
            <a:r>
              <a:rPr kumimoji="1" lang="ko-KR" altLang="en-US" sz="1600" dirty="0" err="1"/>
              <a:t>레포를</a:t>
            </a:r>
            <a:r>
              <a:rPr kumimoji="1" lang="ko-KR" altLang="en-US" sz="1600" dirty="0"/>
              <a:t> 쓰면 어지러워지니까</a:t>
            </a:r>
            <a:r>
              <a:rPr kumimoji="1" lang="en-US" altLang="ko-KR" sz="1600" dirty="0"/>
              <a:t> Fork</a:t>
            </a:r>
            <a:r>
              <a:rPr kumimoji="1" lang="ko-KR" altLang="en-US" sz="1600" dirty="0" err="1"/>
              <a:t>를</a:t>
            </a:r>
            <a:r>
              <a:rPr kumimoji="1" lang="ko-KR" altLang="en-US" sz="1600" dirty="0"/>
              <a:t> 해서 자신의 계정으로 </a:t>
            </a:r>
            <a:r>
              <a:rPr kumimoji="1" lang="ko-KR" altLang="en-US" sz="1600" dirty="0" err="1"/>
              <a:t>레포를</a:t>
            </a:r>
            <a:r>
              <a:rPr kumimoji="1" lang="ko-KR" altLang="en-US" sz="1600" dirty="0"/>
              <a:t> 복사</a:t>
            </a:r>
            <a:r>
              <a:rPr kumimoji="1" lang="en-US" altLang="ko-KR" sz="1600" dirty="0"/>
              <a:t>(</a:t>
            </a:r>
            <a:r>
              <a:rPr kumimoji="1" lang="ko-KR" altLang="en-US" sz="1600" dirty="0"/>
              <a:t>연동</a:t>
            </a:r>
            <a:r>
              <a:rPr kumimoji="1" lang="en-US" altLang="ko-KR" sz="1600" dirty="0"/>
              <a:t>)</a:t>
            </a:r>
            <a:r>
              <a:rPr kumimoji="1" lang="ko-KR" altLang="en-US" sz="1600" dirty="0"/>
              <a:t>후</a:t>
            </a:r>
            <a:r>
              <a:rPr kumimoji="1" lang="en-US" altLang="ko-KR" sz="1600" dirty="0"/>
              <a:t>, </a:t>
            </a:r>
            <a:r>
              <a:rPr kumimoji="1" lang="ko-KR" altLang="en-US" sz="1600" dirty="0"/>
              <a:t>자신의 </a:t>
            </a:r>
            <a:r>
              <a:rPr kumimoji="1" lang="ko-KR" altLang="en-US" sz="1600" dirty="0" err="1"/>
              <a:t>레포로</a:t>
            </a:r>
            <a:r>
              <a:rPr kumimoji="1" lang="ko-KR" altLang="en-US" sz="1600" dirty="0"/>
              <a:t> 각자 이용하기</a:t>
            </a:r>
            <a:r>
              <a:rPr kumimoji="1" lang="en-US" altLang="ko-KR" sz="1600" dirty="0"/>
              <a:t>!</a:t>
            </a:r>
          </a:p>
          <a:p>
            <a:endParaRPr kumimoji="1" lang="en-US" altLang="ko-KR" sz="1600" dirty="0"/>
          </a:p>
          <a:p>
            <a:pPr marL="0" indent="0">
              <a:buNone/>
            </a:pPr>
            <a:endParaRPr kumimoji="1" lang="ko-KR" altLang="en-US" sz="16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1F15265-09EF-E876-6871-E068CD36EB45}"/>
              </a:ext>
            </a:extLst>
          </p:cNvPr>
          <p:cNvGrpSpPr/>
          <p:nvPr/>
        </p:nvGrpSpPr>
        <p:grpSpPr>
          <a:xfrm>
            <a:off x="8126115" y="207625"/>
            <a:ext cx="3806316" cy="4999374"/>
            <a:chOff x="7149668" y="734793"/>
            <a:chExt cx="4525283" cy="544217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8DB4CE3-3516-DC0A-4A90-51009635C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7149668" y="776057"/>
              <a:ext cx="4525283" cy="5400906"/>
            </a:xfrm>
            <a:prstGeom prst="rect">
              <a:avLst/>
            </a:prstGeom>
          </p:spPr>
        </p:pic>
        <p:sp>
          <p:nvSpPr>
            <p:cNvPr id="5" name="액자 4">
              <a:extLst>
                <a:ext uri="{FF2B5EF4-FFF2-40B4-BE49-F238E27FC236}">
                  <a16:creationId xmlns:a16="http://schemas.microsoft.com/office/drawing/2014/main" id="{376E8DA9-D8A2-AB76-8D4E-5C6F409668AE}"/>
                </a:ext>
              </a:extLst>
            </p:cNvPr>
            <p:cNvSpPr/>
            <p:nvPr/>
          </p:nvSpPr>
          <p:spPr>
            <a:xfrm>
              <a:off x="8530167" y="734793"/>
              <a:ext cx="2456857" cy="391496"/>
            </a:xfrm>
            <a:prstGeom prst="fram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0607DAF6-9056-24ED-2046-CF6D97EB618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1500" y="4471039"/>
            <a:ext cx="7291694" cy="1955161"/>
          </a:xfrm>
          <a:prstGeom prst="rect">
            <a:avLst/>
          </a:prstGeom>
        </p:spPr>
      </p:pic>
      <p:sp>
        <p:nvSpPr>
          <p:cNvPr id="8" name="액자 7">
            <a:extLst>
              <a:ext uri="{FF2B5EF4-FFF2-40B4-BE49-F238E27FC236}">
                <a16:creationId xmlns:a16="http://schemas.microsoft.com/office/drawing/2014/main" id="{30FFE355-AAC7-B7F9-BD7E-3305D85218E1}"/>
              </a:ext>
            </a:extLst>
          </p:cNvPr>
          <p:cNvSpPr/>
          <p:nvPr/>
        </p:nvSpPr>
        <p:spPr>
          <a:xfrm>
            <a:off x="5880100" y="4991099"/>
            <a:ext cx="1219200" cy="431800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69573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CB9234-C4A5-7F27-6D8E-E317ACC4B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73" y="931209"/>
            <a:ext cx="6248721" cy="4826248"/>
          </a:xfrm>
          <a:prstGeom prst="rect">
            <a:avLst/>
          </a:prstGeom>
        </p:spPr>
      </p:pic>
      <p:sp>
        <p:nvSpPr>
          <p:cNvPr id="6" name="액자 5">
            <a:extLst>
              <a:ext uri="{FF2B5EF4-FFF2-40B4-BE49-F238E27FC236}">
                <a16:creationId xmlns:a16="http://schemas.microsoft.com/office/drawing/2014/main" id="{29BBB5B6-AD3E-0BCC-BACA-47017CFCB76D}"/>
              </a:ext>
            </a:extLst>
          </p:cNvPr>
          <p:cNvSpPr/>
          <p:nvPr/>
        </p:nvSpPr>
        <p:spPr>
          <a:xfrm>
            <a:off x="245373" y="2290425"/>
            <a:ext cx="1811537" cy="325773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7" name="액자 6">
            <a:extLst>
              <a:ext uri="{FF2B5EF4-FFF2-40B4-BE49-F238E27FC236}">
                <a16:creationId xmlns:a16="http://schemas.microsoft.com/office/drawing/2014/main" id="{19EE2A90-0E2D-B7A2-E173-C4D862A0AC78}"/>
              </a:ext>
            </a:extLst>
          </p:cNvPr>
          <p:cNvSpPr/>
          <p:nvPr/>
        </p:nvSpPr>
        <p:spPr>
          <a:xfrm>
            <a:off x="203039" y="4241802"/>
            <a:ext cx="1939026" cy="296333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pic>
        <p:nvPicPr>
          <p:cNvPr id="9" name="그림 8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BE209B0-2669-9DF9-78EC-F0911E4D6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408" y="110067"/>
            <a:ext cx="5486219" cy="6060358"/>
          </a:xfrm>
          <a:prstGeom prst="rect">
            <a:avLst/>
          </a:prstGeom>
        </p:spPr>
      </p:pic>
      <p:sp>
        <p:nvSpPr>
          <p:cNvPr id="12" name="액자 11">
            <a:extLst>
              <a:ext uri="{FF2B5EF4-FFF2-40B4-BE49-F238E27FC236}">
                <a16:creationId xmlns:a16="http://schemas.microsoft.com/office/drawing/2014/main" id="{057980C2-09E6-50D8-45D1-6C8D822BA605}"/>
              </a:ext>
            </a:extLst>
          </p:cNvPr>
          <p:cNvSpPr/>
          <p:nvPr/>
        </p:nvSpPr>
        <p:spPr>
          <a:xfrm>
            <a:off x="7975440" y="110067"/>
            <a:ext cx="2861893" cy="364066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5741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3C9509-7FF8-70BD-8326-CF29603CB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err="1"/>
              <a:t>Github</a:t>
            </a:r>
            <a:r>
              <a:rPr kumimoji="1" lang="en-US" altLang="ko-KR" dirty="0"/>
              <a:t>(</a:t>
            </a:r>
            <a:r>
              <a:rPr kumimoji="1" lang="ko-KR" altLang="en-US" dirty="0"/>
              <a:t>원격저장소</a:t>
            </a:r>
            <a:r>
              <a:rPr kumimoji="1" lang="en-US" altLang="ko-KR" dirty="0"/>
              <a:t>) </a:t>
            </a:r>
            <a:r>
              <a:rPr kumimoji="1" lang="ko-KR" altLang="en-US" dirty="0"/>
              <a:t>연결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233968-3BB7-DB95-27D7-E7F302259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1447800"/>
            <a:ext cx="11150600" cy="5232400"/>
          </a:xfrm>
        </p:spPr>
        <p:txBody>
          <a:bodyPr>
            <a:normAutofit lnSpcReduction="10000"/>
          </a:bodyPr>
          <a:lstStyle/>
          <a:p>
            <a:r>
              <a:rPr lang="en" altLang="ko-KR" sz="1800" b="1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git remote add </a:t>
            </a:r>
            <a:r>
              <a:rPr lang="ko-KR" altLang="en-US" sz="1800" b="1" i="0" dirty="0" err="1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원격저장소별칭</a:t>
            </a:r>
            <a:r>
              <a:rPr lang="ko-KR" altLang="en-US" sz="1800" b="1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 원격저장소</a:t>
            </a:r>
            <a:r>
              <a:rPr lang="en" altLang="ko-KR" sz="1800" b="1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URL</a:t>
            </a:r>
          </a:p>
          <a:p>
            <a:r>
              <a:rPr kumimoji="1" lang="ko-KR" altLang="en-US" sz="1800" dirty="0">
                <a:latin typeface="AppleSDGothicNeo" panose="02000300000000000000" pitchFamily="2" charset="-127"/>
                <a:ea typeface="AppleSDGothicNeo" panose="02000300000000000000" pitchFamily="2" charset="-127"/>
              </a:rPr>
              <a:t>예</a:t>
            </a:r>
            <a:r>
              <a:rPr kumimoji="1" lang="en-US" altLang="ko-KR" sz="1800" dirty="0">
                <a:latin typeface="AppleSDGothicNeo" panose="02000300000000000000" pitchFamily="2" charset="-127"/>
                <a:ea typeface="AppleSDGothicNeo" panose="02000300000000000000" pitchFamily="2" charset="-127"/>
              </a:rPr>
              <a:t>) git remote add origin https://github.com/konkuk-kuggle/13th_Seminar</a:t>
            </a:r>
          </a:p>
          <a:p>
            <a:r>
              <a:rPr kumimoji="1" lang="en-US" altLang="ko-KR" sz="1800" dirty="0">
                <a:latin typeface="AppleSDGothicNeo" panose="02000300000000000000" pitchFamily="2" charset="-127"/>
                <a:ea typeface="AppleSDGothicNeo" panose="02000300000000000000" pitchFamily="2" charset="-127"/>
              </a:rPr>
              <a:t>user1</a:t>
            </a:r>
            <a:r>
              <a:rPr kumimoji="1" lang="ko-KR" altLang="en-US" sz="1800" dirty="0">
                <a:latin typeface="AppleSDGothicNeo" panose="02000300000000000000" pitchFamily="2" charset="-127"/>
                <a:ea typeface="AppleSDGothicNeo" panose="02000300000000000000" pitchFamily="2" charset="-127"/>
              </a:rPr>
              <a:t>의 예</a:t>
            </a:r>
            <a:r>
              <a:rPr kumimoji="1" lang="en-US" altLang="ko-KR" sz="1800" dirty="0">
                <a:latin typeface="AppleSDGothicNeo" panose="02000300000000000000" pitchFamily="2" charset="-127"/>
                <a:ea typeface="AppleSDGothicNeo" panose="02000300000000000000" pitchFamily="2" charset="-127"/>
              </a:rPr>
              <a:t>) git remote add origin https://github.com/user1/13th_Seminar</a:t>
            </a:r>
          </a:p>
          <a:p>
            <a:endParaRPr kumimoji="1" lang="en" altLang="ko-KR" sz="1800" dirty="0">
              <a:latin typeface="AppleSDGothicNeo" panose="02000300000000000000" pitchFamily="2" charset="-127"/>
              <a:ea typeface="AppleSDGothicNeo" panose="02000300000000000000" pitchFamily="2" charset="-127"/>
            </a:endParaRPr>
          </a:p>
          <a:p>
            <a:r>
              <a:rPr lang="en" altLang="ko-KR" sz="1800" b="1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git remote -v </a:t>
            </a:r>
            <a:r>
              <a:rPr lang="en" altLang="ko-KR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: </a:t>
            </a:r>
            <a:r>
              <a:rPr lang="ko-KR" altLang="en-US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원격저장소 목록 확인 </a:t>
            </a:r>
            <a:r>
              <a:rPr lang="en-US" altLang="ko-KR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(</a:t>
            </a:r>
            <a:r>
              <a:rPr lang="ko-KR" altLang="en-US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연결 잘 됐는지 확인하기</a:t>
            </a:r>
            <a:r>
              <a:rPr lang="en-US" altLang="ko-KR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)</a:t>
            </a:r>
            <a:endParaRPr kumimoji="1" lang="en-US" altLang="ko-KR" sz="1800" dirty="0">
              <a:latin typeface="AppleSDGothicNeo" panose="02000300000000000000" pitchFamily="2" charset="-127"/>
              <a:ea typeface="AppleSDGothicNeo" panose="02000300000000000000" pitchFamily="2" charset="-127"/>
            </a:endParaRPr>
          </a:p>
          <a:p>
            <a:pPr marL="0" indent="0">
              <a:buNone/>
            </a:pPr>
            <a:endParaRPr kumimoji="1" lang="en-US" altLang="ko-KR" sz="1800" dirty="0">
              <a:latin typeface="AppleSDGothicNeo" panose="02000300000000000000" pitchFamily="2" charset="-127"/>
              <a:ea typeface="AppleSDGothicNeo" panose="02000300000000000000" pitchFamily="2" charset="-127"/>
            </a:endParaRPr>
          </a:p>
          <a:p>
            <a:r>
              <a:rPr lang="en" altLang="ko-KR" sz="1800" b="1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git push </a:t>
            </a:r>
            <a:r>
              <a:rPr lang="ko-KR" altLang="en-US" sz="1800" b="1" i="0" dirty="0" err="1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원격저장소별칭</a:t>
            </a:r>
            <a:r>
              <a:rPr lang="ko-KR" altLang="en-US" sz="1800" b="1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 </a:t>
            </a:r>
            <a:r>
              <a:rPr lang="ko-KR" altLang="en-US" sz="1800" b="1" i="0" dirty="0" err="1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브랜치이름</a:t>
            </a:r>
            <a:r>
              <a:rPr lang="ko-KR" altLang="en-US" sz="1800" b="1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 </a:t>
            </a:r>
            <a:r>
              <a:rPr lang="en-US" altLang="ko-KR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: </a:t>
            </a:r>
            <a:r>
              <a:rPr lang="en" altLang="ko-KR" sz="1800" b="0" i="0" dirty="0" err="1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github</a:t>
            </a:r>
            <a:r>
              <a:rPr lang="ko-KR" altLang="en-US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에 로컬 깃 저장소에 </a:t>
            </a:r>
            <a:r>
              <a:rPr lang="ko-KR" altLang="en-US" sz="1800" b="0" i="0" dirty="0" err="1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커밋단위의</a:t>
            </a:r>
            <a:r>
              <a:rPr lang="ko-KR" altLang="en-US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 내용을 업로드한다</a:t>
            </a:r>
            <a:r>
              <a:rPr lang="en-US" altLang="ko-KR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.</a:t>
            </a:r>
            <a:endParaRPr kumimoji="1" lang="en-US" altLang="ko-KR" sz="1800" b="0" i="0" dirty="0">
              <a:effectLst/>
              <a:latin typeface="AppleSDGothicNeo" panose="02000300000000000000" pitchFamily="2" charset="-127"/>
              <a:ea typeface="AppleSDGothicNeo" panose="02000300000000000000" pitchFamily="2" charset="-127"/>
            </a:endParaRPr>
          </a:p>
          <a:p>
            <a:r>
              <a:rPr kumimoji="1" lang="ko-KR" altLang="en-US" sz="1800" dirty="0">
                <a:latin typeface="AppleSDGothicNeo" panose="02000300000000000000" pitchFamily="2" charset="-127"/>
                <a:ea typeface="AppleSDGothicNeo" panose="02000300000000000000" pitchFamily="2" charset="-127"/>
              </a:rPr>
              <a:t>예</a:t>
            </a:r>
            <a:r>
              <a:rPr kumimoji="1" lang="en-US" altLang="ko-KR" sz="1800" dirty="0">
                <a:latin typeface="AppleSDGothicNeo" panose="02000300000000000000" pitchFamily="2" charset="-127"/>
                <a:ea typeface="AppleSDGothicNeo" panose="02000300000000000000" pitchFamily="2" charset="-127"/>
              </a:rPr>
              <a:t>) git push origin week01</a:t>
            </a:r>
          </a:p>
          <a:p>
            <a:pPr marL="0" indent="0">
              <a:buNone/>
            </a:pPr>
            <a:endParaRPr kumimoji="1" lang="en-US" altLang="ko-KR" sz="1800" dirty="0">
              <a:latin typeface="AppleSDGothicNeo" panose="02000300000000000000" pitchFamily="2" charset="-127"/>
              <a:ea typeface="AppleSDGothicNeo" panose="02000300000000000000" pitchFamily="2" charset="-127"/>
            </a:endParaRPr>
          </a:p>
          <a:p>
            <a:r>
              <a:rPr lang="en" altLang="ko-KR" sz="1800" b="1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git clone :</a:t>
            </a:r>
            <a:r>
              <a:rPr lang="en" altLang="ko-KR" sz="180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 </a:t>
            </a:r>
            <a:r>
              <a:rPr lang="ko-KR" altLang="en-US" sz="180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원격 저장소에 내용을 자신의 컴퓨터로 내려 받는다</a:t>
            </a:r>
            <a:r>
              <a:rPr lang="en-US" altLang="ko-KR" sz="180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. (</a:t>
            </a:r>
            <a:r>
              <a:rPr lang="ko-KR" altLang="en-US" sz="180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초기</a:t>
            </a:r>
            <a:r>
              <a:rPr lang="en-US" altLang="ko-KR" sz="180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)</a:t>
            </a:r>
            <a:endParaRPr lang="en" altLang="ko-KR" sz="1800" b="1" i="0" dirty="0">
              <a:effectLst/>
              <a:latin typeface="AppleSDGothicNeo" panose="02000300000000000000" pitchFamily="2" charset="-127"/>
              <a:ea typeface="AppleSDGothicNeo" panose="02000300000000000000" pitchFamily="2" charset="-127"/>
            </a:endParaRPr>
          </a:p>
          <a:p>
            <a:r>
              <a:rPr kumimoji="1" lang="ko-KR" altLang="en-US" sz="1800" dirty="0">
                <a:latin typeface="AppleSDGothicNeo" panose="02000300000000000000" pitchFamily="2" charset="-127"/>
                <a:ea typeface="AppleSDGothicNeo" panose="02000300000000000000" pitchFamily="2" charset="-127"/>
              </a:rPr>
              <a:t>예</a:t>
            </a:r>
            <a:r>
              <a:rPr kumimoji="1" lang="en-US" altLang="ko-KR" sz="1800" dirty="0">
                <a:latin typeface="AppleSDGothicNeo" panose="02000300000000000000" pitchFamily="2" charset="-127"/>
                <a:ea typeface="AppleSDGothicNeo" panose="02000300000000000000" pitchFamily="2" charset="-127"/>
              </a:rPr>
              <a:t>) git clone </a:t>
            </a:r>
            <a:r>
              <a:rPr kumimoji="1" lang="en-US" altLang="ko-KR" sz="1800" dirty="0">
                <a:latin typeface="AppleSDGothicNeo" panose="02000300000000000000" pitchFamily="2" charset="-127"/>
                <a:ea typeface="AppleSDGothicNeo" panose="02000300000000000000" pitchFamily="2" charset="-127"/>
                <a:hlinkClick r:id="rId2"/>
              </a:rPr>
              <a:t>https://github.com/konkuk-kuggle/13th_Seminar</a:t>
            </a:r>
            <a:endParaRPr kumimoji="1" lang="en-US" altLang="ko-KR" sz="1800" dirty="0">
              <a:latin typeface="AppleSDGothicNeo" panose="02000300000000000000" pitchFamily="2" charset="-127"/>
              <a:ea typeface="AppleSDGothicNeo" panose="02000300000000000000" pitchFamily="2" charset="-127"/>
            </a:endParaRPr>
          </a:p>
          <a:p>
            <a:endParaRPr kumimoji="1" lang="en" altLang="ko-KR" sz="1800" dirty="0">
              <a:latin typeface="AppleSDGothicNeo" panose="02000300000000000000" pitchFamily="2" charset="-127"/>
              <a:ea typeface="AppleSDGothicNeo" panose="02000300000000000000" pitchFamily="2" charset="-127"/>
            </a:endParaRPr>
          </a:p>
          <a:p>
            <a:r>
              <a:rPr kumimoji="1" lang="en" altLang="ko-KR" sz="1800" dirty="0">
                <a:latin typeface="AppleSDGothicNeo" panose="02000300000000000000" pitchFamily="2" charset="-127"/>
                <a:ea typeface="AppleSDGothicNeo" panose="02000300000000000000" pitchFamily="2" charset="-127"/>
              </a:rPr>
              <a:t>git pull </a:t>
            </a:r>
            <a:r>
              <a:rPr kumimoji="1" lang="en-US" altLang="ko-KR" sz="1800" dirty="0">
                <a:latin typeface="AppleSDGothicNeo" panose="02000300000000000000" pitchFamily="2" charset="-127"/>
                <a:ea typeface="AppleSDGothicNeo" panose="02000300000000000000" pitchFamily="2" charset="-127"/>
              </a:rPr>
              <a:t>origin</a:t>
            </a:r>
            <a:r>
              <a:rPr kumimoji="1" lang="ko-KR" altLang="en-US" sz="1800" dirty="0">
                <a:latin typeface="AppleSDGothicNeo" panose="02000300000000000000" pitchFamily="2" charset="-127"/>
                <a:ea typeface="AppleSDGothicNeo" panose="02000300000000000000" pitchFamily="2" charset="-127"/>
              </a:rPr>
              <a:t> </a:t>
            </a:r>
            <a:r>
              <a:rPr kumimoji="1" lang="en-US" altLang="ko-KR" sz="1800" dirty="0">
                <a:latin typeface="AppleSDGothicNeo" panose="02000300000000000000" pitchFamily="2" charset="-127"/>
                <a:ea typeface="AppleSDGothicNeo" panose="02000300000000000000" pitchFamily="2" charset="-127"/>
              </a:rPr>
              <a:t>main</a:t>
            </a:r>
            <a:r>
              <a:rPr kumimoji="1" lang="ko-KR" altLang="en-US" sz="1800" dirty="0">
                <a:latin typeface="AppleSDGothicNeo" panose="02000300000000000000" pitchFamily="2" charset="-127"/>
                <a:ea typeface="AppleSDGothicNeo" panose="02000300000000000000" pitchFamily="2" charset="-127"/>
              </a:rPr>
              <a:t> </a:t>
            </a:r>
            <a:r>
              <a:rPr kumimoji="1" lang="en-US" altLang="ko-KR" sz="1800" dirty="0">
                <a:latin typeface="AppleSDGothicNeo" panose="02000300000000000000" pitchFamily="2" charset="-127"/>
                <a:ea typeface="AppleSDGothicNeo" panose="02000300000000000000" pitchFamily="2" charset="-127"/>
              </a:rPr>
              <a:t>: </a:t>
            </a:r>
            <a:r>
              <a:rPr kumimoji="1" lang="ko-KR" altLang="en-US" sz="1800" dirty="0">
                <a:latin typeface="AppleSDGothicNeo" panose="02000300000000000000" pitchFamily="2" charset="-127"/>
                <a:ea typeface="AppleSDGothicNeo" panose="02000300000000000000" pitchFamily="2" charset="-127"/>
              </a:rPr>
              <a:t>원격저장소에 있는 내용을 한번에 </a:t>
            </a:r>
            <a:r>
              <a:rPr kumimoji="1" lang="ko-KR" altLang="en-US" sz="1800" dirty="0" err="1">
                <a:latin typeface="AppleSDGothicNeo" panose="02000300000000000000" pitchFamily="2" charset="-127"/>
                <a:ea typeface="AppleSDGothicNeo" panose="02000300000000000000" pitchFamily="2" charset="-127"/>
              </a:rPr>
              <a:t>내려받는다</a:t>
            </a:r>
            <a:r>
              <a:rPr kumimoji="1" lang="en-US" altLang="ko-KR" sz="1800" dirty="0">
                <a:latin typeface="AppleSDGothicNeo" panose="02000300000000000000" pitchFamily="2" charset="-127"/>
                <a:ea typeface="AppleSDGothicNeo" panose="02000300000000000000" pitchFamily="2" charset="-127"/>
              </a:rPr>
              <a:t>. </a:t>
            </a:r>
            <a:r>
              <a:rPr kumimoji="1" lang="ko-KR" altLang="en-US" sz="1800" dirty="0">
                <a:latin typeface="AppleSDGothicNeo" panose="02000300000000000000" pitchFamily="2" charset="-127"/>
                <a:ea typeface="AppleSDGothicNeo" panose="02000300000000000000" pitchFamily="2" charset="-127"/>
              </a:rPr>
              <a:t>최신 </a:t>
            </a:r>
            <a:r>
              <a:rPr kumimoji="1" lang="ko-KR" altLang="en-US" sz="1800" dirty="0" err="1">
                <a:latin typeface="AppleSDGothicNeo" panose="02000300000000000000" pitchFamily="2" charset="-127"/>
                <a:ea typeface="AppleSDGothicNeo" panose="02000300000000000000" pitchFamily="2" charset="-127"/>
              </a:rPr>
              <a:t>커밋과</a:t>
            </a:r>
            <a:r>
              <a:rPr kumimoji="1" lang="ko-KR" altLang="en-US" sz="1800" dirty="0">
                <a:latin typeface="AppleSDGothicNeo" panose="02000300000000000000" pitchFamily="2" charset="-127"/>
                <a:ea typeface="AppleSDGothicNeo" panose="02000300000000000000" pitchFamily="2" charset="-127"/>
              </a:rPr>
              <a:t> 내 로컬파일과 자동 병합한다</a:t>
            </a:r>
            <a:r>
              <a:rPr kumimoji="1" lang="en-US" altLang="ko-KR" sz="1800" dirty="0">
                <a:latin typeface="AppleSDGothicNeo" panose="02000300000000000000" pitchFamily="2" charset="-127"/>
                <a:ea typeface="AppleSDGothicNeo" panose="02000300000000000000" pitchFamily="2" charset="-127"/>
              </a:rPr>
              <a:t>.</a:t>
            </a:r>
          </a:p>
          <a:p>
            <a:r>
              <a:rPr kumimoji="1" lang="en-US" altLang="ko-KR" sz="1800" dirty="0">
                <a:latin typeface="AppleSDGothicNeo" panose="02000300000000000000" pitchFamily="2" charset="-127"/>
                <a:ea typeface="AppleSDGothicNeo" panose="02000300000000000000" pitchFamily="2" charset="-127"/>
              </a:rPr>
              <a:t>(</a:t>
            </a:r>
            <a:r>
              <a:rPr kumimoji="1" lang="ko-KR" altLang="en-US" sz="1800" dirty="0">
                <a:latin typeface="AppleSDGothicNeo" panose="02000300000000000000" pitchFamily="2" charset="-127"/>
                <a:ea typeface="AppleSDGothicNeo" panose="02000300000000000000" pitchFamily="2" charset="-127"/>
              </a:rPr>
              <a:t>원격저장소가 로컬저장소보다 더 최신 </a:t>
            </a:r>
            <a:r>
              <a:rPr kumimoji="1" lang="ko-KR" altLang="en-US" sz="1800" dirty="0" err="1">
                <a:latin typeface="AppleSDGothicNeo" panose="02000300000000000000" pitchFamily="2" charset="-127"/>
                <a:ea typeface="AppleSDGothicNeo" panose="02000300000000000000" pitchFamily="2" charset="-127"/>
              </a:rPr>
              <a:t>커밋이</a:t>
            </a:r>
            <a:r>
              <a:rPr kumimoji="1" lang="ko-KR" altLang="en-US" sz="1800" dirty="0">
                <a:latin typeface="AppleSDGothicNeo" panose="02000300000000000000" pitchFamily="2" charset="-127"/>
                <a:ea typeface="AppleSDGothicNeo" panose="02000300000000000000" pitchFamily="2" charset="-127"/>
              </a:rPr>
              <a:t> </a:t>
            </a:r>
            <a:r>
              <a:rPr kumimoji="1" lang="ko-KR" altLang="en-US" sz="1800" dirty="0" err="1">
                <a:latin typeface="AppleSDGothicNeo" panose="02000300000000000000" pitchFamily="2" charset="-127"/>
                <a:ea typeface="AppleSDGothicNeo" panose="02000300000000000000" pitchFamily="2" charset="-127"/>
              </a:rPr>
              <a:t>있을때만</a:t>
            </a:r>
            <a:r>
              <a:rPr kumimoji="1" lang="ko-KR" altLang="en-US" sz="1800" dirty="0">
                <a:latin typeface="AppleSDGothicNeo" panose="02000300000000000000" pitchFamily="2" charset="-127"/>
                <a:ea typeface="AppleSDGothicNeo" panose="02000300000000000000" pitchFamily="2" charset="-127"/>
              </a:rPr>
              <a:t> </a:t>
            </a:r>
            <a:r>
              <a:rPr kumimoji="1" lang="ko-KR" altLang="en-US" sz="1800" dirty="0" err="1">
                <a:latin typeface="AppleSDGothicNeo" panose="02000300000000000000" pitchFamily="2" charset="-127"/>
                <a:ea typeface="AppleSDGothicNeo" panose="02000300000000000000" pitchFamily="2" charset="-127"/>
              </a:rPr>
              <a:t>내려받는다</a:t>
            </a:r>
            <a:r>
              <a:rPr kumimoji="1" lang="en-US" altLang="ko-KR" sz="1800" dirty="0">
                <a:latin typeface="AppleSDGothicNeo" panose="02000300000000000000" pitchFamily="2" charset="-127"/>
                <a:ea typeface="AppleSDGothicNeo" panose="02000300000000000000" pitchFamily="2" charset="-127"/>
              </a:rPr>
              <a:t>.)</a:t>
            </a:r>
          </a:p>
          <a:p>
            <a:endParaRPr kumimoji="1" lang="en" altLang="ko-KR" sz="1800" dirty="0">
              <a:latin typeface="AppleSDGothicNeo" panose="02000300000000000000" pitchFamily="2" charset="-127"/>
              <a:ea typeface="AppleSDGothic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74690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40574C-4D4D-87AC-2E98-F2B6B6B8B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DBBFBB-E33E-20CD-A61E-F5785653C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65800" cy="4351338"/>
          </a:xfrm>
        </p:spPr>
        <p:txBody>
          <a:bodyPr>
            <a:normAutofit/>
          </a:bodyPr>
          <a:lstStyle/>
          <a:p>
            <a:r>
              <a:rPr kumimoji="1" lang="ko-KR" altLang="en-US" sz="1800" dirty="0"/>
              <a:t>사실 명령어는 자연스레 </a:t>
            </a:r>
            <a:r>
              <a:rPr kumimoji="1" lang="ko-KR" altLang="en-US" sz="1800" dirty="0" err="1"/>
              <a:t>외워지는거라</a:t>
            </a:r>
            <a:r>
              <a:rPr kumimoji="1" lang="ko-KR" altLang="en-US" sz="1800" dirty="0"/>
              <a:t> </a:t>
            </a:r>
            <a:r>
              <a:rPr kumimoji="1" lang="ko-KR" altLang="en-US" sz="1800" dirty="0" err="1"/>
              <a:t>외울필요없고</a:t>
            </a:r>
            <a:r>
              <a:rPr kumimoji="1" lang="ko-KR" altLang="en-US" sz="1800" dirty="0"/>
              <a:t> </a:t>
            </a:r>
            <a:r>
              <a:rPr kumimoji="1" lang="en-US" altLang="ko-KR" sz="1800" dirty="0" err="1"/>
              <a:t>gpt</a:t>
            </a:r>
            <a:r>
              <a:rPr kumimoji="1" lang="en-US" altLang="ko-KR" sz="1800" dirty="0"/>
              <a:t> </a:t>
            </a:r>
            <a:r>
              <a:rPr kumimoji="1" lang="ko-KR" altLang="en-US" sz="1800" dirty="0"/>
              <a:t>물어보세요</a:t>
            </a:r>
            <a:endParaRPr kumimoji="1" lang="en-US" altLang="ko-KR" sz="1800" dirty="0"/>
          </a:p>
          <a:p>
            <a:r>
              <a:rPr kumimoji="1" lang="ko-KR" altLang="en-US" sz="1800" dirty="0"/>
              <a:t>근데 </a:t>
            </a:r>
            <a:r>
              <a:rPr kumimoji="1" lang="en-US" altLang="ko-KR" sz="1800" dirty="0"/>
              <a:t>tracked, stage </a:t>
            </a:r>
            <a:r>
              <a:rPr kumimoji="1" lang="ko-KR" altLang="en-US" sz="1800" dirty="0" err="1"/>
              <a:t>상태등등</a:t>
            </a:r>
            <a:r>
              <a:rPr kumimoji="1" lang="ko-KR" altLang="en-US" sz="1800" dirty="0"/>
              <a:t> 개념은 알고 있어야지 </a:t>
            </a:r>
            <a:r>
              <a:rPr kumimoji="1" lang="ko-KR" altLang="en-US" sz="1800" dirty="0" err="1"/>
              <a:t>이용할수가</a:t>
            </a:r>
            <a:r>
              <a:rPr kumimoji="1" lang="ko-KR" altLang="en-US" sz="1800" dirty="0"/>
              <a:t> 있어요</a:t>
            </a:r>
            <a:r>
              <a:rPr kumimoji="1" lang="en-US" altLang="ko-KR" sz="1800" dirty="0"/>
              <a:t>!</a:t>
            </a:r>
          </a:p>
          <a:p>
            <a:pPr marL="0" indent="0">
              <a:buNone/>
            </a:pPr>
            <a:endParaRPr kumimoji="1" lang="en-US" altLang="ko-KR" sz="1800" dirty="0"/>
          </a:p>
          <a:p>
            <a:pPr marL="0" indent="0">
              <a:buNone/>
            </a:pPr>
            <a:r>
              <a:rPr kumimoji="1" lang="en-US" altLang="ko-KR" sz="1800" dirty="0"/>
              <a:t>GPT </a:t>
            </a:r>
            <a:r>
              <a:rPr kumimoji="1" lang="ko-KR" altLang="en-US" sz="1800" dirty="0" err="1"/>
              <a:t>질문시</a:t>
            </a:r>
            <a:endParaRPr kumimoji="1" lang="en-US" altLang="ko-KR" sz="1800" dirty="0"/>
          </a:p>
          <a:p>
            <a:r>
              <a:rPr kumimoji="1" lang="en-US" altLang="ko-KR" sz="1800" dirty="0"/>
              <a:t>❌ </a:t>
            </a:r>
            <a:r>
              <a:rPr kumimoji="1" lang="ko-KR" altLang="en-US" sz="1800" dirty="0"/>
              <a:t>나 이거 </a:t>
            </a:r>
            <a:r>
              <a:rPr kumimoji="1" lang="en-US" altLang="ko-KR" sz="1800" dirty="0"/>
              <a:t>add </a:t>
            </a:r>
            <a:r>
              <a:rPr kumimoji="1" lang="ko-KR" altLang="en-US" sz="1800" dirty="0" err="1"/>
              <a:t>써야돼</a:t>
            </a:r>
            <a:r>
              <a:rPr kumimoji="1" lang="en-US" altLang="ko-KR" sz="1800" dirty="0"/>
              <a:t>?</a:t>
            </a:r>
            <a:r>
              <a:rPr kumimoji="1" lang="ko-KR" altLang="en-US" sz="1800" dirty="0"/>
              <a:t> </a:t>
            </a:r>
            <a:r>
              <a:rPr kumimoji="1" lang="en-US" altLang="ko-KR" sz="1800" dirty="0"/>
              <a:t>commit </a:t>
            </a:r>
            <a:r>
              <a:rPr kumimoji="1" lang="ko-KR" altLang="en-US" sz="1800" dirty="0" err="1"/>
              <a:t>해야돼</a:t>
            </a:r>
            <a:r>
              <a:rPr kumimoji="1" lang="en-US" altLang="ko-KR" sz="1800" dirty="0"/>
              <a:t>? (</a:t>
            </a:r>
            <a:r>
              <a:rPr kumimoji="1" lang="ko-KR" altLang="en-US" sz="1800" dirty="0"/>
              <a:t>틀린 질문</a:t>
            </a:r>
            <a:r>
              <a:rPr kumimoji="1" lang="en-US" altLang="ko-KR" sz="1800" dirty="0"/>
              <a:t>)</a:t>
            </a:r>
          </a:p>
          <a:p>
            <a:r>
              <a:rPr kumimoji="1" lang="en-US" altLang="ko-KR" sz="1800" dirty="0"/>
              <a:t>✅ </a:t>
            </a:r>
            <a:r>
              <a:rPr kumimoji="1" lang="ko-KR" altLang="en-US" sz="1800" dirty="0"/>
              <a:t>이 파일이 </a:t>
            </a:r>
            <a:r>
              <a:rPr kumimoji="1" lang="en-US" altLang="ko-KR" sz="1800" dirty="0"/>
              <a:t>untracked</a:t>
            </a:r>
            <a:r>
              <a:rPr kumimoji="1" lang="ko-KR" altLang="en-US" sz="1800" dirty="0"/>
              <a:t>돼서 등록이 안돼</a:t>
            </a:r>
            <a:r>
              <a:rPr kumimoji="1" lang="en-US" altLang="ko-KR" sz="1800" dirty="0"/>
              <a:t>. Tracked </a:t>
            </a:r>
            <a:r>
              <a:rPr kumimoji="1" lang="ko-KR" altLang="en-US" sz="1800" dirty="0"/>
              <a:t>시키는 명령어 알려줘 </a:t>
            </a:r>
            <a:r>
              <a:rPr kumimoji="1" lang="en-US" altLang="ko-KR" sz="1800" dirty="0"/>
              <a:t>(</a:t>
            </a:r>
            <a:r>
              <a:rPr kumimoji="1" lang="ko-KR" altLang="en-US" sz="1800" dirty="0"/>
              <a:t>옳은 질문</a:t>
            </a:r>
            <a:r>
              <a:rPr kumimoji="1" lang="en-US" altLang="ko-KR" sz="1800" dirty="0"/>
              <a:t>)</a:t>
            </a:r>
            <a:endParaRPr kumimoji="1" lang="ko-KR" altLang="en-US" sz="18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8A92CB8-AAE7-C622-40C7-BCE1C1D3D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0" y="624793"/>
            <a:ext cx="4483100" cy="560841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766AE6B-9FF3-F01C-8DFD-B93D4DAC6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50" y="5387975"/>
            <a:ext cx="58801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126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E2FA5-33E6-B00A-14CD-444C688F5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Git branch </a:t>
            </a:r>
            <a:r>
              <a:rPr kumimoji="1" lang="ko-KR" altLang="en-US" dirty="0"/>
              <a:t>개념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A2EF1A-3A10-193D-95E6-7EB127796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02600" cy="4351338"/>
          </a:xfrm>
        </p:spPr>
        <p:txBody>
          <a:bodyPr>
            <a:normAutofit/>
          </a:bodyPr>
          <a:lstStyle/>
          <a:p>
            <a:r>
              <a:rPr lang="ko-KR" altLang="en-US" sz="1800" b="0" i="0" dirty="0" err="1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브랜치는</a:t>
            </a:r>
            <a:r>
              <a:rPr lang="ko-KR" altLang="en-US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 나뭇가지 </a:t>
            </a:r>
            <a:r>
              <a:rPr lang="en-US" altLang="ko-KR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, </a:t>
            </a:r>
            <a:r>
              <a:rPr lang="ko-KR" altLang="en-US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지사 </a:t>
            </a:r>
            <a:r>
              <a:rPr lang="en-US" altLang="ko-KR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, </a:t>
            </a:r>
            <a:r>
              <a:rPr lang="ko-KR" altLang="en-US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분점 등 줄기 하나에서 뻗어 나온 갈림길을 의미합니다</a:t>
            </a:r>
          </a:p>
          <a:p>
            <a:pPr algn="l" latinLnBrk="1"/>
            <a:r>
              <a:rPr lang="ko-KR" altLang="en-US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큰 나무 줄기에서 작은 줄기가 </a:t>
            </a:r>
            <a:r>
              <a:rPr lang="ko-KR" altLang="en-US" sz="1800" b="0" i="0" dirty="0" err="1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뻗어나가는</a:t>
            </a:r>
            <a:r>
              <a:rPr lang="ko-KR" altLang="en-US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 것처럼 저장공간 하나에서 또 다른 가상 저장 공간을 만드는 것입니다</a:t>
            </a:r>
            <a:r>
              <a:rPr lang="en-US" altLang="ko-KR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.</a:t>
            </a:r>
          </a:p>
          <a:p>
            <a:pPr algn="l" latinLnBrk="1"/>
            <a:r>
              <a:rPr lang="ko-KR" altLang="en-US" sz="1800" b="0" i="0" dirty="0" err="1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커밋은</a:t>
            </a:r>
            <a:r>
              <a:rPr lang="ko-KR" altLang="en-US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 파일의 수정 이력을 관리하는데 사용한다면 </a:t>
            </a:r>
            <a:r>
              <a:rPr lang="en-US" altLang="ko-KR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, </a:t>
            </a:r>
            <a:r>
              <a:rPr lang="ko-KR" altLang="en-US" sz="1800" b="0" i="0" dirty="0" err="1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브랜치는</a:t>
            </a:r>
            <a:r>
              <a:rPr lang="ko-KR" altLang="en-US" sz="18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 프로젝트를 독립적으로 관리하는데 사용합니다</a:t>
            </a:r>
            <a:r>
              <a:rPr lang="en-US" altLang="ko-KR" sz="1800" dirty="0">
                <a:latin typeface="AppleSDGothicNeo" panose="02000300000000000000" pitchFamily="2" charset="-127"/>
                <a:ea typeface="AppleSDGothicNeo" panose="02000300000000000000" pitchFamily="2" charset="-127"/>
              </a:rPr>
              <a:t>. -&gt; </a:t>
            </a:r>
            <a:r>
              <a:rPr lang="ko-KR" altLang="en-US" sz="1800" dirty="0" err="1">
                <a:solidFill>
                  <a:srgbClr val="FF0000"/>
                </a:solidFill>
                <a:latin typeface="AppleSDGothicNeo" panose="02000300000000000000" pitchFamily="2" charset="-127"/>
                <a:ea typeface="AppleSDGothicNeo" panose="02000300000000000000" pitchFamily="2" charset="-127"/>
              </a:rPr>
              <a:t>쿠글은</a:t>
            </a:r>
            <a:r>
              <a:rPr lang="ko-KR" altLang="en-US" sz="1800" dirty="0">
                <a:solidFill>
                  <a:srgbClr val="FF0000"/>
                </a:solidFill>
                <a:latin typeface="AppleSDGothicNeo" panose="02000300000000000000" pitchFamily="2" charset="-127"/>
                <a:ea typeface="AppleSDGothicNeo" panose="02000300000000000000" pitchFamily="2" charset="-127"/>
              </a:rPr>
              <a:t> 주차별로 파일을 독립적으로 관리하기 위해 이용</a:t>
            </a:r>
            <a:endParaRPr lang="en-US" altLang="ko-KR" sz="1800" dirty="0">
              <a:solidFill>
                <a:srgbClr val="FF0000"/>
              </a:solidFill>
              <a:latin typeface="AppleSDGothicNeo" panose="02000300000000000000" pitchFamily="2" charset="-127"/>
              <a:ea typeface="AppleSDGothicNeo" panose="02000300000000000000" pitchFamily="2" charset="-127"/>
            </a:endParaRPr>
          </a:p>
          <a:p>
            <a:pPr algn="l" latinLnBrk="1"/>
            <a:endParaRPr lang="en-US" altLang="ko-KR" sz="1800" i="0" dirty="0">
              <a:effectLst/>
              <a:latin typeface="AppleSDGothicNeo" panose="02000300000000000000" pitchFamily="2" charset="-127"/>
              <a:ea typeface="AppleSDGothicNeo" panose="02000300000000000000" pitchFamily="2" charset="-127"/>
            </a:endParaRPr>
          </a:p>
          <a:p>
            <a:pPr algn="l" latinLnBrk="1"/>
            <a:endParaRPr lang="en-US" altLang="ko-KR" sz="1800" b="0" i="0" dirty="0">
              <a:effectLst/>
              <a:latin typeface="AppleSDGothicNeo" panose="02000300000000000000" pitchFamily="2" charset="-127"/>
              <a:ea typeface="AppleSDGothicNeo" panose="02000300000000000000" pitchFamily="2" charset="-127"/>
            </a:endParaRPr>
          </a:p>
          <a:p>
            <a:endParaRPr kumimoji="1" lang="ko-KR" altLang="en-US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B12B3EC-FBCC-4440-AB4A-1C4892865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0051" y="698500"/>
            <a:ext cx="2729280" cy="589438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F6EDB01-8655-1B37-2D71-13EBB721C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342" y="3685458"/>
            <a:ext cx="3960343" cy="262644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4E97632-06B8-F8D6-10E4-5915AC1680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31" y="3933902"/>
            <a:ext cx="4061560" cy="231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2813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9F0E7-A857-09A2-150C-E8B3FBC1A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branch </a:t>
            </a:r>
            <a:r>
              <a:rPr kumimoji="1" lang="ko-KR" altLang="en-US" dirty="0"/>
              <a:t>관련 명령어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E0DA1B-F936-5516-C538-212D1EAA0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24375"/>
          </a:xfrm>
        </p:spPr>
        <p:txBody>
          <a:bodyPr>
            <a:normAutofit/>
          </a:bodyPr>
          <a:lstStyle/>
          <a:p>
            <a:pPr algn="l" latinLnBrk="1"/>
            <a:r>
              <a:rPr lang="en" altLang="ko-KR" sz="2000" b="1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git branch -v</a:t>
            </a:r>
            <a:endParaRPr lang="en" altLang="ko-KR" sz="2000" b="0" i="0" dirty="0">
              <a:effectLst/>
              <a:latin typeface="AppleSDGothicNeo" panose="02000300000000000000" pitchFamily="2" charset="-127"/>
              <a:ea typeface="AppleSDGothicNeo" panose="02000300000000000000" pitchFamily="2" charset="-127"/>
            </a:endParaRPr>
          </a:p>
          <a:p>
            <a:pPr algn="l" latinLnBrk="1"/>
            <a:r>
              <a:rPr lang="ko-KR" altLang="en-US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가지고 있는 모든 </a:t>
            </a:r>
            <a:r>
              <a:rPr lang="ko-KR" altLang="en-US" sz="2000" b="0" i="0" dirty="0" err="1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브랜치를</a:t>
            </a:r>
            <a:r>
              <a:rPr lang="ko-KR" altLang="en-US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 볼 수 있습니다</a:t>
            </a:r>
            <a:endParaRPr lang="en" altLang="ko-KR" sz="2000" b="1" i="0" dirty="0">
              <a:effectLst/>
              <a:latin typeface="AppleSDGothicNeo" panose="02000300000000000000" pitchFamily="2" charset="-127"/>
              <a:ea typeface="AppleSDGothicNeo" panose="02000300000000000000" pitchFamily="2" charset="-127"/>
            </a:endParaRPr>
          </a:p>
          <a:p>
            <a:pPr algn="l" latinLnBrk="1"/>
            <a:endParaRPr lang="en" altLang="ko-KR" sz="2000" b="1" dirty="0">
              <a:latin typeface="AppleSDGothicNeo" panose="02000300000000000000" pitchFamily="2" charset="-127"/>
              <a:ea typeface="AppleSDGothicNeo" panose="02000300000000000000" pitchFamily="2" charset="-127"/>
            </a:endParaRPr>
          </a:p>
          <a:p>
            <a:pPr algn="l" latinLnBrk="1"/>
            <a:r>
              <a:rPr lang="en" altLang="ko-KR" sz="2000" b="1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git checkout </a:t>
            </a:r>
            <a:r>
              <a:rPr lang="ko-KR" altLang="en-US" sz="2000" b="1" i="0" dirty="0" err="1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브랜치이름</a:t>
            </a:r>
            <a:endParaRPr lang="ko-KR" altLang="en-US" sz="2000" b="0" i="0" dirty="0">
              <a:effectLst/>
              <a:latin typeface="AppleSDGothicNeo" panose="02000300000000000000" pitchFamily="2" charset="-127"/>
              <a:ea typeface="AppleSDGothicNeo" panose="02000300000000000000" pitchFamily="2" charset="-127"/>
            </a:endParaRPr>
          </a:p>
          <a:p>
            <a:pPr algn="l" latinLnBrk="1"/>
            <a:r>
              <a:rPr lang="ko-KR" altLang="en-US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그 </a:t>
            </a:r>
            <a:r>
              <a:rPr lang="ko-KR" altLang="en-US" sz="2000" b="0" i="0" dirty="0" err="1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브랜치로</a:t>
            </a:r>
            <a:r>
              <a:rPr lang="ko-KR" altLang="en-US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 이동</a:t>
            </a:r>
            <a:r>
              <a:rPr lang="en-US" altLang="ko-KR" sz="2000" dirty="0">
                <a:latin typeface="AppleSDGothicNeo" panose="02000300000000000000" pitchFamily="2" charset="-127"/>
                <a:ea typeface="AppleSDGothicNeo" panose="02000300000000000000" pitchFamily="2" charset="-127"/>
              </a:rPr>
              <a:t> </a:t>
            </a:r>
            <a:r>
              <a:rPr lang="en-US" altLang="ko-KR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(</a:t>
            </a:r>
            <a:r>
              <a:rPr lang="ko-KR" altLang="en-US" sz="2000" b="0" i="0" dirty="0" err="1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현재브랜치에서</a:t>
            </a:r>
            <a:r>
              <a:rPr lang="ko-KR" altLang="en-US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 </a:t>
            </a:r>
            <a:r>
              <a:rPr lang="ko-KR" altLang="en-US" sz="2000" b="0" i="0" dirty="0" err="1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커밋을</a:t>
            </a:r>
            <a:r>
              <a:rPr lang="ko-KR" altLang="en-US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 해야 이동할 수 있습니다</a:t>
            </a:r>
            <a:r>
              <a:rPr lang="en-US" altLang="ko-KR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! </a:t>
            </a:r>
            <a:r>
              <a:rPr lang="en" altLang="ko-KR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git status</a:t>
            </a:r>
            <a:r>
              <a:rPr lang="ko-KR" altLang="en-US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로 확인</a:t>
            </a:r>
            <a:r>
              <a:rPr lang="en-US" altLang="ko-KR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)</a:t>
            </a:r>
          </a:p>
          <a:p>
            <a:pPr algn="l" latinLnBrk="1"/>
            <a:r>
              <a:rPr lang="ko-KR" altLang="en-US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예</a:t>
            </a:r>
            <a:r>
              <a:rPr lang="en-US" altLang="ko-KR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) git checkout week02  : 2</a:t>
            </a:r>
            <a:r>
              <a:rPr lang="ko-KR" altLang="en-US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주차 파일을 받기 위해서 이동</a:t>
            </a:r>
            <a:endParaRPr lang="en-US" altLang="ko-KR" sz="2000" b="0" i="0" dirty="0">
              <a:effectLst/>
              <a:latin typeface="AppleSDGothicNeo" panose="02000300000000000000" pitchFamily="2" charset="-127"/>
              <a:ea typeface="AppleSDGothicNeo" panose="02000300000000000000" pitchFamily="2" charset="-127"/>
            </a:endParaRPr>
          </a:p>
          <a:p>
            <a:r>
              <a:rPr lang="ko-KR" altLang="en-US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예</a:t>
            </a:r>
            <a:r>
              <a:rPr lang="en-US" altLang="ko-KR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) git checkout week03  : 3</a:t>
            </a:r>
            <a:r>
              <a:rPr lang="ko-KR" altLang="en-US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주차 세미나 </a:t>
            </a:r>
            <a:r>
              <a:rPr lang="ko-KR" altLang="en-US" sz="2000" b="0" i="0" dirty="0" err="1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들을때</a:t>
            </a:r>
            <a:r>
              <a:rPr lang="ko-KR" altLang="en-US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 이렇게 이동</a:t>
            </a:r>
            <a:endParaRPr lang="en-US" altLang="ko-KR" sz="2000" b="0" i="0" dirty="0">
              <a:effectLst/>
              <a:latin typeface="AppleSDGothicNeo" panose="02000300000000000000" pitchFamily="2" charset="-127"/>
              <a:ea typeface="AppleSDGothicNeo" panose="02000300000000000000" pitchFamily="2" charset="-127"/>
            </a:endParaRPr>
          </a:p>
          <a:p>
            <a:pPr marL="0" indent="0" algn="l" latinLnBrk="1">
              <a:buNone/>
            </a:pPr>
            <a:endParaRPr lang="en-US" altLang="ko-KR" sz="2000" dirty="0">
              <a:latin typeface="AppleSDGothicNeo" panose="02000300000000000000" pitchFamily="2" charset="-127"/>
              <a:ea typeface="AppleSDGothicNeo" panose="02000300000000000000" pitchFamily="2" charset="-127"/>
            </a:endParaRPr>
          </a:p>
          <a:p>
            <a:pPr algn="l" latinLnBrk="1"/>
            <a:r>
              <a:rPr lang="en" altLang="ko-KR" sz="2000" b="1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git checkout -b </a:t>
            </a:r>
            <a:r>
              <a:rPr lang="ko-KR" altLang="en-US" sz="2000" b="1" i="0" dirty="0" err="1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새로운브랜치이름</a:t>
            </a:r>
            <a:endParaRPr lang="ko-KR" altLang="en-US" sz="2000" b="0" i="0" dirty="0">
              <a:effectLst/>
              <a:latin typeface="AppleSDGothicNeo" panose="02000300000000000000" pitchFamily="2" charset="-127"/>
              <a:ea typeface="AppleSDGothicNeo" panose="02000300000000000000" pitchFamily="2" charset="-127"/>
            </a:endParaRPr>
          </a:p>
          <a:p>
            <a:pPr algn="l" latinLnBrk="1"/>
            <a:r>
              <a:rPr lang="ko-KR" altLang="en-US" sz="2000" b="0" i="0" dirty="0" err="1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브랜치를</a:t>
            </a:r>
            <a:r>
              <a:rPr lang="ko-KR" altLang="en-US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 새로 만들고 그 </a:t>
            </a:r>
            <a:r>
              <a:rPr lang="ko-KR" altLang="en-US" sz="2000" b="0" i="0" dirty="0" err="1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브랜치로</a:t>
            </a:r>
            <a:r>
              <a:rPr lang="ko-KR" altLang="en-US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 이동</a:t>
            </a:r>
            <a:r>
              <a:rPr lang="en-US" altLang="ko-KR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(</a:t>
            </a:r>
            <a:r>
              <a:rPr lang="en" altLang="ko-KR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checkout)</a:t>
            </a:r>
            <a:r>
              <a:rPr lang="ko-KR" altLang="en-US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을 한번에 해줍니다</a:t>
            </a:r>
            <a:r>
              <a:rPr lang="en-US" altLang="ko-KR" sz="2000" b="0" i="0" dirty="0">
                <a:effectLst/>
                <a:latin typeface="AppleSDGothicNeo" panose="02000300000000000000" pitchFamily="2" charset="-127"/>
                <a:ea typeface="AppleSDGothicNeo" panose="02000300000000000000" pitchFamily="2" charset="-127"/>
              </a:rPr>
              <a:t>.</a:t>
            </a:r>
          </a:p>
          <a:p>
            <a:pPr algn="l" latinLnBrk="1"/>
            <a:endParaRPr lang="en-US" altLang="ko-KR" sz="2000" b="0" i="0" dirty="0">
              <a:effectLst/>
              <a:latin typeface="AppleSDGothicNeo" panose="02000300000000000000" pitchFamily="2" charset="-127"/>
              <a:ea typeface="AppleSDGothicNeo" panose="02000300000000000000" pitchFamily="2" charset="-127"/>
            </a:endParaRPr>
          </a:p>
          <a:p>
            <a:endParaRPr kumimoji="1" lang="en-US" altLang="ko-KR" sz="2000" dirty="0"/>
          </a:p>
          <a:p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978226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9A548-C760-F8E0-69E3-91E63D764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8D3A9E-8F25-2F6C-A6B3-139597999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ko-KR" sz="1800" dirty="0"/>
              <a:t>Git</a:t>
            </a:r>
            <a:r>
              <a:rPr kumimoji="1" lang="ko-KR" altLang="en-US" sz="1800" dirty="0"/>
              <a:t>이랑 리눅스 명령어 자유자재로 연습해 보기</a:t>
            </a:r>
            <a:endParaRPr kumimoji="1" lang="en-US" altLang="ko-KR" sz="1800" dirty="0"/>
          </a:p>
          <a:p>
            <a:r>
              <a:rPr kumimoji="1" lang="ko-KR" altLang="en-US" sz="1800" dirty="0"/>
              <a:t>자신의 깃 계정에 </a:t>
            </a:r>
            <a:r>
              <a:rPr kumimoji="1" lang="ko-KR" altLang="en-US" sz="1800" dirty="0" err="1"/>
              <a:t>쿠글</a:t>
            </a:r>
            <a:r>
              <a:rPr kumimoji="1" lang="ko-KR" altLang="en-US" sz="1800" dirty="0"/>
              <a:t> 세미나 </a:t>
            </a:r>
            <a:r>
              <a:rPr kumimoji="1" lang="ko-KR" altLang="en-US" sz="1800" dirty="0" err="1"/>
              <a:t>레포</a:t>
            </a:r>
            <a:r>
              <a:rPr kumimoji="1" lang="ko-KR" altLang="en-US" sz="1800" dirty="0"/>
              <a:t> </a:t>
            </a:r>
            <a:r>
              <a:rPr kumimoji="1" lang="en-US" altLang="ko-KR" sz="1800" dirty="0"/>
              <a:t>fork</a:t>
            </a:r>
            <a:r>
              <a:rPr kumimoji="1" lang="ko-KR" altLang="en-US" sz="1800" dirty="0"/>
              <a:t>하기</a:t>
            </a:r>
            <a:endParaRPr kumimoji="1" lang="en-US" altLang="ko-KR" sz="1800" dirty="0"/>
          </a:p>
          <a:p>
            <a:r>
              <a:rPr kumimoji="1" lang="ko-KR" altLang="en-US" sz="1800" dirty="0"/>
              <a:t>방학동안 한 과제 파일들 자신의 </a:t>
            </a:r>
            <a:r>
              <a:rPr kumimoji="1" lang="ko-KR" altLang="en-US" sz="1800" dirty="0" err="1"/>
              <a:t>레포</a:t>
            </a:r>
            <a:r>
              <a:rPr kumimoji="1" lang="ko-KR" altLang="en-US" sz="1800" dirty="0"/>
              <a:t> </a:t>
            </a:r>
            <a:r>
              <a:rPr kumimoji="1" lang="en-US" altLang="ko-KR" sz="1800" dirty="0"/>
              <a:t>week01 </a:t>
            </a:r>
            <a:r>
              <a:rPr kumimoji="1" lang="ko-KR" altLang="en-US" sz="1800" dirty="0" err="1"/>
              <a:t>브랜치에</a:t>
            </a:r>
            <a:r>
              <a:rPr kumimoji="1" lang="ko-KR" altLang="en-US" sz="1800" dirty="0"/>
              <a:t> 업로드</a:t>
            </a:r>
            <a:endParaRPr kumimoji="1" lang="en-US" altLang="ko-KR" sz="1800" dirty="0"/>
          </a:p>
          <a:p>
            <a:r>
              <a:rPr kumimoji="1" lang="en-US" altLang="ko-KR" sz="1800" dirty="0" err="1"/>
              <a:t>Kuggle</a:t>
            </a:r>
            <a:r>
              <a:rPr kumimoji="1" lang="ko-KR" altLang="en-US" sz="1800" dirty="0"/>
              <a:t>계정 </a:t>
            </a:r>
            <a:r>
              <a:rPr kumimoji="1" lang="en-US" altLang="ko-KR" sz="1800" dirty="0"/>
              <a:t>main </a:t>
            </a:r>
            <a:r>
              <a:rPr kumimoji="1" lang="ko-KR" altLang="en-US" sz="1800" dirty="0" err="1"/>
              <a:t>브랜치에</a:t>
            </a:r>
            <a:r>
              <a:rPr kumimoji="1" lang="ko-KR" altLang="en-US" sz="1800" dirty="0"/>
              <a:t> </a:t>
            </a:r>
            <a:r>
              <a:rPr kumimoji="1" lang="en-US" altLang="ko-KR" sz="1800" dirty="0"/>
              <a:t>pull request </a:t>
            </a:r>
            <a:r>
              <a:rPr kumimoji="1" lang="ko-KR" altLang="en-US" sz="1800" dirty="0"/>
              <a:t>보내기</a:t>
            </a:r>
            <a:endParaRPr kumimoji="1" lang="en-US" altLang="ko-KR" sz="1800" dirty="0"/>
          </a:p>
          <a:p>
            <a:endParaRPr kumimoji="1" lang="en-US" altLang="ko-KR" sz="1800" dirty="0"/>
          </a:p>
          <a:p>
            <a:r>
              <a:rPr kumimoji="1" lang="ko-KR" altLang="en-US" sz="1800" dirty="0"/>
              <a:t>아래가 큰 틀입니다</a:t>
            </a:r>
            <a:r>
              <a:rPr kumimoji="1" lang="en-US" altLang="ko-KR" sz="18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ko-KR" altLang="en-US" sz="1800" dirty="0"/>
              <a:t>폴더 만들고 들어가기 </a:t>
            </a:r>
            <a:r>
              <a:rPr kumimoji="1" lang="en-US" altLang="ko-KR" sz="1800" dirty="0"/>
              <a:t>-&gt; Git clone -&gt; git checkout week02 -&gt; </a:t>
            </a:r>
            <a:r>
              <a:rPr kumimoji="1" lang="ko-KR" altLang="en-US" sz="1800" dirty="0"/>
              <a:t>지금까지 파일 </a:t>
            </a:r>
            <a:r>
              <a:rPr kumimoji="1" lang="ko-KR" altLang="en-US" sz="1800" dirty="0" err="1"/>
              <a:t>복붙하기</a:t>
            </a:r>
            <a:r>
              <a:rPr kumimoji="1" lang="ko-KR" altLang="en-US" sz="1800" dirty="0"/>
              <a:t> </a:t>
            </a:r>
            <a:r>
              <a:rPr kumimoji="1" lang="en-US" altLang="ko-KR" sz="1800" dirty="0"/>
              <a:t>-&gt; git add -&gt; commit -&gt; push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ko-KR" altLang="en-US" sz="1800" dirty="0"/>
              <a:t>폴더 만들고 들어가기 </a:t>
            </a:r>
            <a:r>
              <a:rPr kumimoji="1" lang="en-US" altLang="ko-KR" sz="1800" dirty="0"/>
              <a:t>-&gt; git </a:t>
            </a:r>
            <a:r>
              <a:rPr kumimoji="1" lang="en-US" altLang="ko-KR" sz="1800" dirty="0" err="1"/>
              <a:t>init</a:t>
            </a:r>
            <a:r>
              <a:rPr kumimoji="1" lang="ko-KR" altLang="en-US" sz="1800" dirty="0"/>
              <a:t> </a:t>
            </a:r>
            <a:r>
              <a:rPr kumimoji="1" lang="en-US" altLang="ko-KR" sz="1800" dirty="0"/>
              <a:t>(git </a:t>
            </a:r>
            <a:r>
              <a:rPr kumimoji="1" lang="ko-KR" altLang="en-US" sz="1800" dirty="0"/>
              <a:t>저장소로 설정</a:t>
            </a:r>
            <a:r>
              <a:rPr kumimoji="1" lang="en-US" altLang="ko-KR" sz="1800" dirty="0"/>
              <a:t>)</a:t>
            </a:r>
            <a:r>
              <a:rPr kumimoji="1" lang="ko-KR" altLang="en-US" sz="1800" dirty="0"/>
              <a:t> </a:t>
            </a:r>
            <a:r>
              <a:rPr kumimoji="1" lang="en-US" altLang="ko-KR" sz="1800" dirty="0"/>
              <a:t>-&gt; git remote add (</a:t>
            </a:r>
            <a:r>
              <a:rPr kumimoji="1" lang="en-US" altLang="ko-KR" sz="1800" dirty="0" err="1"/>
              <a:t>github</a:t>
            </a:r>
            <a:r>
              <a:rPr kumimoji="1" lang="en-US" altLang="ko-KR" sz="1800" dirty="0"/>
              <a:t> </a:t>
            </a:r>
            <a:r>
              <a:rPr kumimoji="1" lang="ko-KR" altLang="en-US" sz="1800" dirty="0" err="1"/>
              <a:t>레포와</a:t>
            </a:r>
            <a:r>
              <a:rPr kumimoji="1" lang="ko-KR" altLang="en-US" sz="1800" dirty="0"/>
              <a:t> 연결</a:t>
            </a:r>
            <a:r>
              <a:rPr kumimoji="1" lang="en-US" altLang="ko-KR" sz="1800" dirty="0"/>
              <a:t>) -&gt; git pull (</a:t>
            </a:r>
            <a:r>
              <a:rPr kumimoji="1" lang="ko-KR" altLang="en-US" sz="1800" dirty="0"/>
              <a:t>원격 저장소에 </a:t>
            </a:r>
            <a:r>
              <a:rPr kumimoji="1" lang="ko-KR" altLang="en-US" sz="1800" dirty="0" err="1"/>
              <a:t>있는거</a:t>
            </a:r>
            <a:r>
              <a:rPr kumimoji="1" lang="ko-KR" altLang="en-US" sz="1800" dirty="0"/>
              <a:t> 다운받기</a:t>
            </a:r>
            <a:r>
              <a:rPr kumimoji="1" lang="en-US" altLang="ko-KR" sz="1800" dirty="0"/>
              <a:t>) -&gt; </a:t>
            </a:r>
            <a:r>
              <a:rPr kumimoji="1" lang="ko-KR" altLang="en-US" sz="1800" dirty="0"/>
              <a:t>지금까지 파일 </a:t>
            </a:r>
            <a:r>
              <a:rPr kumimoji="1" lang="ko-KR" altLang="en-US" sz="1800" dirty="0" err="1"/>
              <a:t>복붙하기</a:t>
            </a:r>
            <a:r>
              <a:rPr kumimoji="1" lang="ko-KR" altLang="en-US" sz="1800" dirty="0"/>
              <a:t> </a:t>
            </a:r>
            <a:r>
              <a:rPr kumimoji="1" lang="en-US" altLang="ko-KR" sz="1800" dirty="0"/>
              <a:t>-&gt; git add -&gt; commit -&gt; push</a:t>
            </a:r>
          </a:p>
          <a:p>
            <a:endParaRPr kumimoji="1" lang="en-US" altLang="ko-KR" sz="1800" dirty="0"/>
          </a:p>
          <a:p>
            <a:r>
              <a:rPr kumimoji="1" lang="ko-KR" altLang="en-US" sz="1800" dirty="0"/>
              <a:t>그 이후 </a:t>
            </a:r>
            <a:r>
              <a:rPr kumimoji="1" lang="en-US" altLang="ko-KR" sz="1800" dirty="0"/>
              <a:t>pull request </a:t>
            </a:r>
            <a:r>
              <a:rPr kumimoji="1" lang="ko-KR" altLang="en-US" sz="1800" dirty="0"/>
              <a:t>보내거나 다음 세미나때 막힌 부분 질문</a:t>
            </a:r>
          </a:p>
        </p:txBody>
      </p:sp>
    </p:spTree>
    <p:extLst>
      <p:ext uri="{BB962C8B-B14F-4D97-AF65-F5344CB8AC3E}">
        <p14:creationId xmlns:p14="http://schemas.microsoft.com/office/powerpoint/2010/main" val="40892767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7" descr="텍스트, 폰트, 번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A4B814-DBC4-241A-F0B5-4A52ADC0C44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42433" y="2446009"/>
            <a:ext cx="5777368" cy="1965982"/>
          </a:xfrm>
          <a:prstGeom prst="rect">
            <a:avLst/>
          </a:prstGeom>
        </p:spPr>
      </p:pic>
      <p:pic>
        <p:nvPicPr>
          <p:cNvPr id="10" name="내용 개체 틀 9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1C95EA-89AA-9165-186F-16006D91BD4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88495" y="1225296"/>
            <a:ext cx="6009018" cy="4346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2462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D9DC7C-AFC6-BC10-DE78-03DDA59E2A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6453" y="1052111"/>
            <a:ext cx="5999547" cy="1007263"/>
          </a:xfrm>
          <a:prstGeom prst="rect">
            <a:avLst/>
          </a:prstGeom>
        </p:spPr>
      </p:pic>
      <p:pic>
        <p:nvPicPr>
          <p:cNvPr id="8" name="내용 개체 틀 7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A0CC6E-5E23-581C-D721-B02A7E29F86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01384" y="221430"/>
            <a:ext cx="5181600" cy="3883840"/>
          </a:xfrm>
          <a:prstGeom prst="rect">
            <a:avLst/>
          </a:prstGeom>
        </p:spPr>
      </p:pic>
      <p:pic>
        <p:nvPicPr>
          <p:cNvPr id="10" name="그림 9" descr="텍스트, 폰트, 번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64A9F4E-385C-AF83-76FE-DF89FA6D4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5642" y="4293199"/>
            <a:ext cx="8451483" cy="256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392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1162</Words>
  <Application>Microsoft Office PowerPoint</Application>
  <PresentationFormat>와이드스크린</PresentationFormat>
  <Paragraphs>145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2" baseType="lpstr">
      <vt:lpstr>.AppleSystemUIFont</vt:lpstr>
      <vt:lpstr>Adelle</vt:lpstr>
      <vt:lpstr>Apple SD Gothic Neo</vt:lpstr>
      <vt:lpstr>AppleSDGothicNeo</vt:lpstr>
      <vt:lpstr>맑은 고딕</vt:lpstr>
      <vt:lpstr>Arial</vt:lpstr>
      <vt:lpstr>Office 테마</vt:lpstr>
      <vt:lpstr>Git사용과 Github 사용</vt:lpstr>
      <vt:lpstr>터미널과 기본 리눅스 명령어</vt:lpstr>
      <vt:lpstr>GIT : VCS의 일종</vt:lpstr>
      <vt:lpstr>깃 설치하기 (윈도우)</vt:lpstr>
      <vt:lpstr>깃 설치하기 (윈도우)</vt:lpstr>
      <vt:lpstr>깃 설치하기 (윈도우)</vt:lpstr>
      <vt:lpstr>깃 설치하기 (윈도우)</vt:lpstr>
      <vt:lpstr>깃 설치하기 (윈도우)</vt:lpstr>
      <vt:lpstr>깃 설치하기 (MAC)</vt:lpstr>
      <vt:lpstr>사용자 환경설정</vt:lpstr>
      <vt:lpstr>Git 동작 원리</vt:lpstr>
      <vt:lpstr>Git 저장공간 분류</vt:lpstr>
      <vt:lpstr>파일의 untracked 상태와 tracked 상태</vt:lpstr>
      <vt:lpstr>Git 스테이지</vt:lpstr>
      <vt:lpstr>파일의 modified상태와 unmodified상태</vt:lpstr>
      <vt:lpstr>git commit</vt:lpstr>
      <vt:lpstr>Github란?</vt:lpstr>
      <vt:lpstr>PowerPoint 프레젠테이션</vt:lpstr>
      <vt:lpstr>Github(원격저장소) 연결</vt:lpstr>
      <vt:lpstr>요약</vt:lpstr>
      <vt:lpstr>Git branch 개념</vt:lpstr>
      <vt:lpstr>branch 관련 명령어</vt:lpstr>
      <vt:lpstr>과제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Git사용과 Github 사용</dc:title>
  <dc:creator>조동현</dc:creator>
  <cp:lastModifiedBy>김재환</cp:lastModifiedBy>
  <cp:revision>8</cp:revision>
  <dcterms:created xsi:type="dcterms:W3CDTF">2025-03-07T04:13:07Z</dcterms:created>
  <dcterms:modified xsi:type="dcterms:W3CDTF">2026-03-05T15:31:00Z</dcterms:modified>
</cp:coreProperties>
</file>